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image" Target="../media/image-4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image" Target="../media/image-13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E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4622B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914400"/>
            <a:ext cx="54864" cy="2011680"/>
          </a:xfrm>
          <a:prstGeom prst="rect">
            <a:avLst/>
          </a:prstGeom>
          <a:solidFill>
            <a:srgbClr val="D4622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80"/>
            <a:ext cx="219456" cy="3108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51206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19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Keva</a:t>
            </a:r>
            <a:pPr indent="0" marL="0">
              <a:buNone/>
            </a:pPr>
            <a:r>
              <a:rPr lang="en-US" sz="1200" spc="200" kern="0" dirty="0">
                <a:solidFill>
                  <a:srgbClr val="D462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05840" y="100584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C19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Nothing slips.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1005840" y="17373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62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AI-Enforced Control Plane for Hospitality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005840" y="25603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462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Keva </a:t>
            </a:r>
            <a:pPr indent="0" marL="0">
              <a:buNone/>
            </a:pPr>
            <a:r>
              <a:rPr lang="en-US" sz="1800" i="1" dirty="0">
                <a:solidFill>
                  <a:srgbClr val="8B7E6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 —  permanence, fixity, establishment.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05840" y="320040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8B7E6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Catching what your managers miss and enforcing the fix across every location, every night.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5F1EB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C19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Keva</a:t>
            </a:r>
            <a:pPr indent="0" marL="0">
              <a:buNone/>
            </a:pPr>
            <a:r>
              <a:rPr lang="en-US" sz="800" dirty="0">
                <a:solidFill>
                  <a:srgbClr val="D462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OS</a:t>
            </a:r>
            <a:pPr indent="0" marL="0">
              <a:buNone/>
            </a:pPr>
            <a:r>
              <a:rPr lang="en-US" sz="800" dirty="0">
                <a:solidFill>
                  <a:srgbClr val="8B7E6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 |  THE BINYAN GROUP  |  CONFIDENTIAL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7E6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462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C19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Keva</a:t>
            </a:r>
            <a:pPr indent="0" marL="0">
              <a:buNone/>
            </a:pPr>
            <a:r>
              <a:rPr lang="en-US" sz="1000" spc="200" kern="0" dirty="0">
                <a:solidFill>
                  <a:srgbClr val="D462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9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Every Restaurant Runs on Trust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7E6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Trust breaks. Every night.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3931920" cy="1325880"/>
          </a:xfrm>
          <a:prstGeom prst="rect">
            <a:avLst/>
          </a:prstGeom>
          <a:solidFill>
            <a:srgbClr val="FFFEFB"/>
          </a:solidFill>
          <a:ln w="6350">
            <a:solidFill>
              <a:srgbClr val="E8E2DA"/>
            </a:solidFill>
            <a:prstDash val="solid"/>
          </a:ln>
          <a:effectLst>
            <a:outerShdw sx="100000" sy="100000" kx="0" ky="0" algn="bl" rotWithShape="0" blurRad="50800" dist="12700" dir="8100000">
              <a:srgbClr val="1C1917">
                <a:alpha val="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91640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6642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62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Advisory, Not Enforced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20574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7E6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Every ops platform gives recommendations. Managers ignore them. Nory says "you're overstaffed." Manager schedules the same way.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663440" y="1554480"/>
            <a:ext cx="3931920" cy="1325880"/>
          </a:xfrm>
          <a:prstGeom prst="rect">
            <a:avLst/>
          </a:prstGeom>
          <a:solidFill>
            <a:srgbClr val="FFFEFB"/>
          </a:solidFill>
          <a:ln w="6350">
            <a:solidFill>
              <a:srgbClr val="E8E2DA"/>
            </a:solidFill>
            <a:prstDash val="solid"/>
          </a:ln>
          <a:effectLst>
            <a:outerShdw sx="100000" sy="100000" kx="0" ky="0" algn="bl" rotWithShape="0" blurRad="50800" dist="12700" dir="8100000">
              <a:srgbClr val="1C1917">
                <a:alpha val="6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691640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12080" y="16642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62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Self-Reported Data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846320" y="20574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7E6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 logs, cleaning checklists, inventory counts — all self-reported by the people with incentive to lie.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57200" y="3108960"/>
            <a:ext cx="3931920" cy="1325880"/>
          </a:xfrm>
          <a:prstGeom prst="rect">
            <a:avLst/>
          </a:prstGeom>
          <a:solidFill>
            <a:srgbClr val="FFFEFB"/>
          </a:solidFill>
          <a:ln w="6350">
            <a:solidFill>
              <a:srgbClr val="E8E2DA"/>
            </a:solidFill>
            <a:prstDash val="solid"/>
          </a:ln>
          <a:effectLst>
            <a:outerShdw sx="100000" sy="100000" kx="0" ky="0" algn="bl" rotWithShape="0" blurRad="50800" dist="12700" dir="8100000">
              <a:srgbClr val="1C1917">
                <a:alpha val="6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46120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05840" y="32186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62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 Ground Truth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640080" y="36118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7E6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 sensor data. No verification layer. No way to confirm what actually happened on the floor vs. what the manager says.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663440" y="3108960"/>
            <a:ext cx="3931920" cy="1325880"/>
          </a:xfrm>
          <a:prstGeom prst="rect">
            <a:avLst/>
          </a:prstGeom>
          <a:solidFill>
            <a:srgbClr val="FFFEFB"/>
          </a:solidFill>
          <a:ln w="6350">
            <a:solidFill>
              <a:srgbClr val="E8E2DA"/>
            </a:solidFill>
            <a:prstDash val="solid"/>
          </a:ln>
          <a:effectLst>
            <a:outerShdw sx="100000" sy="100000" kx="0" ky="0" algn="bl" rotWithShape="0" blurRad="50800" dist="12700" dir="8100000">
              <a:srgbClr val="1C1917">
                <a:alpha val="6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246120"/>
            <a:ext cx="256032" cy="25603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212080" y="32186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62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Fragmented Stack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4846320" y="36118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7E6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POS, scheduling, inventory, payroll, reservations — six vendors, no enforcement layer connecting them.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640080" y="46177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7E6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Result: $1M+ in annual operational waste per high-volume venue. Controllable. Currently uncontrolled.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8321040" y="4709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5AD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462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C19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Keva</a:t>
            </a:r>
            <a:pPr indent="0" marL="0">
              <a:buNone/>
            </a:pPr>
            <a:r>
              <a:rPr lang="en-US" sz="1000" spc="200" kern="0" dirty="0">
                <a:solidFill>
                  <a:srgbClr val="D462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9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KevaOS Is an Enforcement Engine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931920" cy="3108960"/>
          </a:xfrm>
          <a:prstGeom prst="rect">
            <a:avLst/>
          </a:prstGeom>
          <a:solidFill>
            <a:srgbClr val="F5F1EB"/>
          </a:solidFill>
          <a:ln w="6350">
            <a:solidFill>
              <a:srgbClr val="E8E2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544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7E6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EVERY OTHER PLATFORM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965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262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1965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7E6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Shows you a chart of labor cost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2404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262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24048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7E6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Suggests a schedule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28437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262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28437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7E6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Alerts you to high food cost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32826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262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32826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7E6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Displays a dashboard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" y="3721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262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37216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7E6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Manager decides whether to act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1463040"/>
            <a:ext cx="3931920" cy="3108960"/>
          </a:xfrm>
          <a:prstGeom prst="rect">
            <a:avLst/>
          </a:prstGeom>
          <a:solidFill>
            <a:srgbClr val="FDF5EF"/>
          </a:solidFill>
          <a:ln w="12700">
            <a:solidFill>
              <a:srgbClr val="D462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0" y="1463040"/>
            <a:ext cx="45720" cy="3108960"/>
          </a:xfrm>
          <a:prstGeom prst="rect">
            <a:avLst/>
          </a:prstGeom>
          <a:solidFill>
            <a:srgbClr val="D4622B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15544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62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KEVAOS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83480" y="1965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62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303520" y="1965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9252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Blocks schedule publication if rails breached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83480" y="2404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62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03520" y="24048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9252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Auto-fires procurement through your supply chain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83480" y="28437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62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03520" y="28437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9252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 reviews every comp against policy nightly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83480" y="32826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62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03520" y="32826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9252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Requires nightly attestation to close out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83480" y="3721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62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303520" y="37216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252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System enforces. Manager complies.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0080" y="46177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7E6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Keva: the fixed framework. The venue doesn't get a suggestion — it gets permanence.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321040" y="4709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5AD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462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C19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Keva</a:t>
            </a:r>
            <a:pPr indent="0" marL="0">
              <a:buNone/>
            </a:pPr>
            <a:r>
              <a:rPr lang="en-US" sz="1000" spc="200" kern="0" dirty="0">
                <a:solidFill>
                  <a:srgbClr val="D462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9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7E6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Integrations → data lake → enforcement engine → action.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7E6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INPUT LAYER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2103120" cy="411480"/>
          </a:xfrm>
          <a:prstGeom prst="rect">
            <a:avLst/>
          </a:prstGeom>
          <a:solidFill>
            <a:srgbClr val="FFFEFB"/>
          </a:solidFill>
          <a:ln w="6350">
            <a:solidFill>
              <a:srgbClr val="E8E2D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92808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18288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0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Toast / Simphony / Upserve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" y="2331720"/>
            <a:ext cx="2103120" cy="411480"/>
          </a:xfrm>
          <a:prstGeom prst="rect">
            <a:avLst/>
          </a:prstGeom>
          <a:solidFill>
            <a:srgbClr val="FFFEFB"/>
          </a:solidFill>
          <a:ln w="6350">
            <a:solidFill>
              <a:srgbClr val="E8E2DA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395728"/>
            <a:ext cx="201168" cy="2011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22960" y="23317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0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7shifts (via TipSee)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57200" y="2834640"/>
            <a:ext cx="2103120" cy="411480"/>
          </a:xfrm>
          <a:prstGeom prst="rect">
            <a:avLst/>
          </a:prstGeom>
          <a:solidFill>
            <a:srgbClr val="FFFEFB"/>
          </a:solidFill>
          <a:ln w="6350">
            <a:solidFill>
              <a:srgbClr val="E8E2DA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898648"/>
            <a:ext cx="201168" cy="20116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22960" y="28346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0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SevenRooms / Tripleseat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457200" y="3337560"/>
            <a:ext cx="2103120" cy="411480"/>
          </a:xfrm>
          <a:prstGeom prst="rect">
            <a:avLst/>
          </a:prstGeom>
          <a:solidFill>
            <a:srgbClr val="FFFEFB"/>
          </a:solidFill>
          <a:ln w="6350">
            <a:solidFill>
              <a:srgbClr val="E8E2DA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401568"/>
            <a:ext cx="201168" cy="20116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22960" y="33375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0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Restaurant365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457200" y="3840480"/>
            <a:ext cx="2103120" cy="411480"/>
          </a:xfrm>
          <a:prstGeom prst="rect">
            <a:avLst/>
          </a:prstGeom>
          <a:solidFill>
            <a:srgbClr val="FFFEFB"/>
          </a:solidFill>
          <a:ln w="6350">
            <a:solidFill>
              <a:srgbClr val="E8E2DA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904488"/>
            <a:ext cx="201168" cy="20116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822960" y="38404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0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UniFi Protect (cameras)</a:t>
            </a:r>
            <a:endParaRPr lang="en-US" sz="10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88920" y="2468880"/>
            <a:ext cx="182880" cy="182880"/>
          </a:xfrm>
          <a:prstGeom prst="rect">
            <a:avLst/>
          </a:prstGeom>
        </p:spPr>
      </p:pic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88920" y="3017520"/>
            <a:ext cx="182880" cy="182880"/>
          </a:xfrm>
          <a:prstGeom prst="rect">
            <a:avLst/>
          </a:prstGeom>
        </p:spPr>
      </p:pic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88920" y="3566160"/>
            <a:ext cx="182880" cy="18288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3200400" y="15544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7E6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ENFORCEMENT ENGINE</a:t>
            </a:r>
            <a:endParaRPr lang="en-US" sz="900" dirty="0"/>
          </a:p>
        </p:txBody>
      </p:sp>
      <p:sp>
        <p:nvSpPr>
          <p:cNvPr id="26" name="Shape 16"/>
          <p:cNvSpPr/>
          <p:nvPr/>
        </p:nvSpPr>
        <p:spPr>
          <a:xfrm>
            <a:off x="3200400" y="1828800"/>
            <a:ext cx="2743200" cy="2468880"/>
          </a:xfrm>
          <a:prstGeom prst="rect">
            <a:avLst/>
          </a:prstGeom>
          <a:solidFill>
            <a:srgbClr val="FDF5EF"/>
          </a:solidFill>
          <a:ln w="19050">
            <a:solidFill>
              <a:srgbClr val="D4622B"/>
            </a:solidFill>
            <a:prstDash val="solid"/>
          </a:ln>
        </p:spPr>
      </p:sp>
      <p:sp>
        <p:nvSpPr>
          <p:cNvPr id="27" name="Shape 17"/>
          <p:cNvSpPr/>
          <p:nvPr/>
        </p:nvSpPr>
        <p:spPr>
          <a:xfrm>
            <a:off x="3200400" y="1828800"/>
            <a:ext cx="2743200" cy="36576"/>
          </a:xfrm>
          <a:prstGeom prst="rect">
            <a:avLst/>
          </a:prstGeom>
          <a:solidFill>
            <a:srgbClr val="D4622B"/>
          </a:solidFill>
          <a:ln/>
        </p:spPr>
      </p:sp>
      <p:sp>
        <p:nvSpPr>
          <p:cNvPr id="28" name="Text 18"/>
          <p:cNvSpPr/>
          <p:nvPr/>
        </p:nvSpPr>
        <p:spPr>
          <a:xfrm>
            <a:off x="3383280" y="19659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9252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▸ Labor Rails</a:t>
            </a:r>
            <a:endParaRPr lang="en-US" sz="1100" dirty="0"/>
          </a:p>
        </p:txBody>
      </p:sp>
      <p:sp>
        <p:nvSpPr>
          <p:cNvPr id="29" name="Text 19"/>
          <p:cNvSpPr/>
          <p:nvPr/>
        </p:nvSpPr>
        <p:spPr>
          <a:xfrm>
            <a:off x="3383280" y="23317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9252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▸ Comp Enforcement</a:t>
            </a:r>
            <a:endParaRPr lang="en-US" sz="1100" dirty="0"/>
          </a:p>
        </p:txBody>
      </p:sp>
      <p:sp>
        <p:nvSpPr>
          <p:cNvPr id="30" name="Text 20"/>
          <p:cNvSpPr/>
          <p:nvPr/>
        </p:nvSpPr>
        <p:spPr>
          <a:xfrm>
            <a:off x="3383280" y="26974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9252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▸ Procurement Agent</a:t>
            </a:r>
            <a:endParaRPr lang="en-US" sz="1100" dirty="0"/>
          </a:p>
        </p:txBody>
      </p:sp>
      <p:sp>
        <p:nvSpPr>
          <p:cNvPr id="31" name="Text 21"/>
          <p:cNvSpPr/>
          <p:nvPr/>
        </p:nvSpPr>
        <p:spPr>
          <a:xfrm>
            <a:off x="3383280" y="3063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9252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▸ Rez-Yield Agent</a:t>
            </a:r>
            <a:endParaRPr lang="en-US" sz="1100" dirty="0"/>
          </a:p>
        </p:txBody>
      </p:sp>
      <p:sp>
        <p:nvSpPr>
          <p:cNvPr id="32" name="Text 22"/>
          <p:cNvSpPr/>
          <p:nvPr/>
        </p:nvSpPr>
        <p:spPr>
          <a:xfrm>
            <a:off x="3383280" y="3429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9252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▸ Nightly Attestation</a:t>
            </a:r>
            <a:endParaRPr lang="en-US" sz="1100" dirty="0"/>
          </a:p>
        </p:txBody>
      </p:sp>
      <p:sp>
        <p:nvSpPr>
          <p:cNvPr id="33" name="Text 23"/>
          <p:cNvSpPr/>
          <p:nvPr/>
        </p:nvSpPr>
        <p:spPr>
          <a:xfrm>
            <a:off x="3383280" y="3794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9252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▸ Anomaly Detection</a:t>
            </a:r>
            <a:endParaRPr lang="en-US" sz="1100" dirty="0"/>
          </a:p>
        </p:txBody>
      </p:sp>
      <p:pic>
        <p:nvPicPr>
          <p:cNvPr id="3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72200" y="2468880"/>
            <a:ext cx="182880" cy="182880"/>
          </a:xfrm>
          <a:prstGeom prst="rect">
            <a:avLst/>
          </a:prstGeom>
        </p:spPr>
      </p:pic>
      <p:pic>
        <p:nvPicPr>
          <p:cNvPr id="3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72200" y="3017520"/>
            <a:ext cx="182880" cy="182880"/>
          </a:xfrm>
          <a:prstGeom prst="rect">
            <a:avLst/>
          </a:prstGeom>
        </p:spPr>
      </p:pic>
      <p:pic>
        <p:nvPicPr>
          <p:cNvPr id="3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72200" y="3566160"/>
            <a:ext cx="182880" cy="182880"/>
          </a:xfrm>
          <a:prstGeom prst="rect">
            <a:avLst/>
          </a:prstGeom>
        </p:spPr>
      </p:pic>
      <p:sp>
        <p:nvSpPr>
          <p:cNvPr id="37" name="Text 24"/>
          <p:cNvSpPr/>
          <p:nvPr/>
        </p:nvSpPr>
        <p:spPr>
          <a:xfrm>
            <a:off x="6583680" y="15544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7E6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ACTION LAYER</a:t>
            </a:r>
            <a:endParaRPr lang="en-US" sz="900" dirty="0"/>
          </a:p>
        </p:txBody>
      </p:sp>
      <p:sp>
        <p:nvSpPr>
          <p:cNvPr id="38" name="Shape 25"/>
          <p:cNvSpPr/>
          <p:nvPr/>
        </p:nvSpPr>
        <p:spPr>
          <a:xfrm>
            <a:off x="6583680" y="1828800"/>
            <a:ext cx="2103120" cy="411480"/>
          </a:xfrm>
          <a:prstGeom prst="rect">
            <a:avLst/>
          </a:prstGeom>
          <a:solidFill>
            <a:srgbClr val="FFFEFB"/>
          </a:solidFill>
          <a:ln w="6350">
            <a:solidFill>
              <a:srgbClr val="E8E2DA"/>
            </a:solidFill>
            <a:prstDash val="solid"/>
          </a:ln>
        </p:spPr>
      </p:sp>
      <p:pic>
        <p:nvPicPr>
          <p:cNvPr id="3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75120" y="1892808"/>
            <a:ext cx="201168" cy="201168"/>
          </a:xfrm>
          <a:prstGeom prst="rect">
            <a:avLst/>
          </a:prstGeom>
        </p:spPr>
      </p:pic>
      <p:sp>
        <p:nvSpPr>
          <p:cNvPr id="40" name="Text 26"/>
          <p:cNvSpPr/>
          <p:nvPr/>
        </p:nvSpPr>
        <p:spPr>
          <a:xfrm>
            <a:off x="6949440" y="18288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0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Block / Escalate</a:t>
            </a:r>
            <a:endParaRPr lang="en-US" sz="1000" dirty="0"/>
          </a:p>
        </p:txBody>
      </p:sp>
      <p:sp>
        <p:nvSpPr>
          <p:cNvPr id="41" name="Shape 27"/>
          <p:cNvSpPr/>
          <p:nvPr/>
        </p:nvSpPr>
        <p:spPr>
          <a:xfrm>
            <a:off x="6583680" y="2331720"/>
            <a:ext cx="2103120" cy="411480"/>
          </a:xfrm>
          <a:prstGeom prst="rect">
            <a:avLst/>
          </a:prstGeom>
          <a:solidFill>
            <a:srgbClr val="FFFEFB"/>
          </a:solidFill>
          <a:ln w="6350">
            <a:solidFill>
              <a:srgbClr val="E8E2DA"/>
            </a:solidFill>
            <a:prstDash val="solid"/>
          </a:ln>
        </p:spPr>
      </p:sp>
      <p:pic>
        <p:nvPicPr>
          <p:cNvPr id="42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75120" y="2395728"/>
            <a:ext cx="201168" cy="201168"/>
          </a:xfrm>
          <a:prstGeom prst="rect">
            <a:avLst/>
          </a:prstGeom>
        </p:spPr>
      </p:pic>
      <p:sp>
        <p:nvSpPr>
          <p:cNvPr id="43" name="Text 28"/>
          <p:cNvSpPr/>
          <p:nvPr/>
        </p:nvSpPr>
        <p:spPr>
          <a:xfrm>
            <a:off x="6949440" y="23317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0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Auto-Order PO</a:t>
            </a:r>
            <a:endParaRPr lang="en-US" sz="1000" dirty="0"/>
          </a:p>
        </p:txBody>
      </p:sp>
      <p:sp>
        <p:nvSpPr>
          <p:cNvPr id="44" name="Shape 29"/>
          <p:cNvSpPr/>
          <p:nvPr/>
        </p:nvSpPr>
        <p:spPr>
          <a:xfrm>
            <a:off x="6583680" y="2834640"/>
            <a:ext cx="2103120" cy="411480"/>
          </a:xfrm>
          <a:prstGeom prst="rect">
            <a:avLst/>
          </a:prstGeom>
          <a:solidFill>
            <a:srgbClr val="FFFEFB"/>
          </a:solidFill>
          <a:ln w="6350">
            <a:solidFill>
              <a:srgbClr val="E8E2DA"/>
            </a:solidFill>
            <a:prstDash val="solid"/>
          </a:ln>
        </p:spPr>
      </p:sp>
      <p:pic>
        <p:nvPicPr>
          <p:cNvPr id="4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75120" y="2898648"/>
            <a:ext cx="201168" cy="201168"/>
          </a:xfrm>
          <a:prstGeom prst="rect">
            <a:avLst/>
          </a:prstGeom>
        </p:spPr>
      </p:pic>
      <p:sp>
        <p:nvSpPr>
          <p:cNvPr id="46" name="Text 30"/>
          <p:cNvSpPr/>
          <p:nvPr/>
        </p:nvSpPr>
        <p:spPr>
          <a:xfrm>
            <a:off x="6949440" y="28346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0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Violation Created</a:t>
            </a:r>
            <a:endParaRPr lang="en-US" sz="1000" dirty="0"/>
          </a:p>
        </p:txBody>
      </p:sp>
      <p:sp>
        <p:nvSpPr>
          <p:cNvPr id="47" name="Shape 31"/>
          <p:cNvSpPr/>
          <p:nvPr/>
        </p:nvSpPr>
        <p:spPr>
          <a:xfrm>
            <a:off x="6583680" y="3337560"/>
            <a:ext cx="2103120" cy="411480"/>
          </a:xfrm>
          <a:prstGeom prst="rect">
            <a:avLst/>
          </a:prstGeom>
          <a:solidFill>
            <a:srgbClr val="FFFEFB"/>
          </a:solidFill>
          <a:ln w="6350">
            <a:solidFill>
              <a:srgbClr val="E8E2DA"/>
            </a:solidFill>
            <a:prstDash val="solid"/>
          </a:ln>
        </p:spPr>
      </p:sp>
      <p:pic>
        <p:nvPicPr>
          <p:cNvPr id="48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75120" y="3401568"/>
            <a:ext cx="201168" cy="201168"/>
          </a:xfrm>
          <a:prstGeom prst="rect">
            <a:avLst/>
          </a:prstGeom>
        </p:spPr>
      </p:pic>
      <p:sp>
        <p:nvSpPr>
          <p:cNvPr id="49" name="Text 32"/>
          <p:cNvSpPr/>
          <p:nvPr/>
        </p:nvSpPr>
        <p:spPr>
          <a:xfrm>
            <a:off x="6949440" y="33375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0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Score Update</a:t>
            </a:r>
            <a:endParaRPr lang="en-US" sz="1000" dirty="0"/>
          </a:p>
        </p:txBody>
      </p:sp>
      <p:sp>
        <p:nvSpPr>
          <p:cNvPr id="50" name="Shape 33"/>
          <p:cNvSpPr/>
          <p:nvPr/>
        </p:nvSpPr>
        <p:spPr>
          <a:xfrm>
            <a:off x="6583680" y="3840480"/>
            <a:ext cx="2103120" cy="411480"/>
          </a:xfrm>
          <a:prstGeom prst="rect">
            <a:avLst/>
          </a:prstGeom>
          <a:solidFill>
            <a:srgbClr val="FFFEFB"/>
          </a:solidFill>
          <a:ln w="6350">
            <a:solidFill>
              <a:srgbClr val="E8E2DA"/>
            </a:solidFill>
            <a:prstDash val="solid"/>
          </a:ln>
        </p:spPr>
      </p:sp>
      <p:pic>
        <p:nvPicPr>
          <p:cNvPr id="51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675120" y="3904488"/>
            <a:ext cx="201168" cy="201168"/>
          </a:xfrm>
          <a:prstGeom prst="rect">
            <a:avLst/>
          </a:prstGeom>
        </p:spPr>
      </p:pic>
      <p:sp>
        <p:nvSpPr>
          <p:cNvPr id="52" name="Text 34"/>
          <p:cNvSpPr/>
          <p:nvPr/>
        </p:nvSpPr>
        <p:spPr>
          <a:xfrm>
            <a:off x="6949440" y="38404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0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Manager Alert</a:t>
            </a:r>
            <a:endParaRPr lang="en-US" sz="1000" dirty="0"/>
          </a:p>
        </p:txBody>
      </p:sp>
      <p:sp>
        <p:nvSpPr>
          <p:cNvPr id="53" name="Text 35"/>
          <p:cNvSpPr/>
          <p:nvPr/>
        </p:nvSpPr>
        <p:spPr>
          <a:xfrm>
            <a:off x="640080" y="46177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7E6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Fail-closed architecture. The fixed framework doesn't ask — it enforces.</a:t>
            </a:r>
            <a:endParaRPr lang="en-US" sz="1100" dirty="0"/>
          </a:p>
        </p:txBody>
      </p:sp>
      <p:sp>
        <p:nvSpPr>
          <p:cNvPr id="54" name="Text 36"/>
          <p:cNvSpPr/>
          <p:nvPr/>
        </p:nvSpPr>
        <p:spPr>
          <a:xfrm>
            <a:off x="8321040" y="4709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5AD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462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C19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Keva</a:t>
            </a:r>
            <a:pPr indent="0" marL="0">
              <a:buNone/>
            </a:pPr>
            <a:r>
              <a:rPr lang="en-US" sz="1000" spc="200" kern="0" dirty="0">
                <a:solidFill>
                  <a:srgbClr val="D462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9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Autonomous AI Agents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7E6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Not dashboards with AI labels. Agents that observe, decide, and act.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8229600" cy="548640"/>
          </a:xfrm>
          <a:prstGeom prst="rect">
            <a:avLst/>
          </a:prstGeom>
          <a:solidFill>
            <a:srgbClr val="F5F1E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63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7E6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Every agent follows the same loop:  </a:t>
            </a:r>
            <a:pPr indent="0" marL="0">
              <a:buNone/>
            </a:pPr>
            <a:r>
              <a:rPr lang="en-US" sz="1200" b="1" dirty="0">
                <a:solidFill>
                  <a:srgbClr val="8B7E6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Observe</a:t>
            </a:r>
            <a:pPr indent="0" marL="0">
              <a:buNone/>
            </a:pPr>
            <a:r>
              <a:rPr lang="en-US" sz="1200" dirty="0">
                <a:solidFill>
                  <a:srgbClr val="B5ADA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 →  </a:t>
            </a:r>
            <a:pPr indent="0" marL="0">
              <a:buNone/>
            </a:pPr>
            <a:r>
              <a:rPr lang="en-US" sz="1200" b="1" dirty="0">
                <a:solidFill>
                  <a:srgbClr val="D462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Evaluate</a:t>
            </a:r>
            <a:pPr indent="0" marL="0">
              <a:buNone/>
            </a:pPr>
            <a:r>
              <a:rPr lang="en-US" sz="1200" dirty="0">
                <a:solidFill>
                  <a:srgbClr val="B5ADA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 →  </a:t>
            </a:r>
            <a:pPr indent="0" marL="0">
              <a:buNone/>
            </a:pPr>
            <a:r>
              <a:rPr lang="en-US" sz="1200" b="1" dirty="0">
                <a:solidFill>
                  <a:srgbClr val="D462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Act</a:t>
            </a:r>
            <a:pPr indent="0" marL="0">
              <a:buNone/>
            </a:pPr>
            <a:r>
              <a:rPr lang="en-US" sz="1200" dirty="0">
                <a:solidFill>
                  <a:srgbClr val="B5ADA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 →  </a:t>
            </a:r>
            <a:pPr indent="0" marL="0">
              <a:buNone/>
            </a:pPr>
            <a:r>
              <a:rPr lang="en-US" sz="1200" b="1" dirty="0">
                <a:solidFill>
                  <a:srgbClr val="D462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Enforce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8229600" cy="365760"/>
          </a:xfrm>
          <a:prstGeom prst="rect">
            <a:avLst/>
          </a:prstGeom>
          <a:solidFill>
            <a:srgbClr val="FFFEFB"/>
          </a:solidFill>
          <a:ln w="6350">
            <a:solidFill>
              <a:srgbClr val="E8E2DA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212848"/>
            <a:ext cx="201168" cy="20116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2960" y="21488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62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Scheduling Agent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468880" y="21488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0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Recommends cuts/call-ins mid-service. Blocks schedule if rails breached.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498080" y="2221992"/>
            <a:ext cx="640080" cy="201168"/>
          </a:xfrm>
          <a:prstGeom prst="rect">
            <a:avLst/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EF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LIVE</a:t>
            </a:r>
            <a:endParaRPr lang="en-US" sz="700" dirty="0"/>
          </a:p>
        </p:txBody>
      </p:sp>
      <p:sp>
        <p:nvSpPr>
          <p:cNvPr id="13" name="Shape 10"/>
          <p:cNvSpPr/>
          <p:nvPr/>
        </p:nvSpPr>
        <p:spPr>
          <a:xfrm>
            <a:off x="457200" y="2578608"/>
            <a:ext cx="8229600" cy="365760"/>
          </a:xfrm>
          <a:prstGeom prst="rect">
            <a:avLst/>
          </a:prstGeom>
          <a:solidFill>
            <a:srgbClr val="FFFEFB"/>
          </a:solidFill>
          <a:ln w="6350">
            <a:solidFill>
              <a:srgbClr val="E8E2DA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642616"/>
            <a:ext cx="201168" cy="20116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22960" y="257860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62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 Agent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2468880" y="257860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0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 reviews against policy. Creates violations. Escalates automatically.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7498080" y="2651760"/>
            <a:ext cx="640080" cy="201168"/>
          </a:xfrm>
          <a:prstGeom prst="rect">
            <a:avLst/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EF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LIVE</a:t>
            </a:r>
            <a:endParaRPr lang="en-US" sz="700" dirty="0"/>
          </a:p>
        </p:txBody>
      </p:sp>
      <p:sp>
        <p:nvSpPr>
          <p:cNvPr id="18" name="Shape 14"/>
          <p:cNvSpPr/>
          <p:nvPr/>
        </p:nvSpPr>
        <p:spPr>
          <a:xfrm>
            <a:off x="457200" y="3008376"/>
            <a:ext cx="8229600" cy="365760"/>
          </a:xfrm>
          <a:prstGeom prst="rect">
            <a:avLst/>
          </a:prstGeom>
          <a:solidFill>
            <a:srgbClr val="FFFEFB"/>
          </a:solidFill>
          <a:ln w="6350">
            <a:solidFill>
              <a:srgbClr val="E8E2DA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072384"/>
            <a:ext cx="201168" cy="20116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22960" y="300837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62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Attestation Agent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2468880" y="300837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0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Requires structured nightly sign-off. Generates violations from variances.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7498080" y="3081528"/>
            <a:ext cx="640080" cy="201168"/>
          </a:xfrm>
          <a:prstGeom prst="rect">
            <a:avLst/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EF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LIVE</a:t>
            </a:r>
            <a:endParaRPr lang="en-US" sz="700" dirty="0"/>
          </a:p>
        </p:txBody>
      </p:sp>
      <p:sp>
        <p:nvSpPr>
          <p:cNvPr id="23" name="Shape 18"/>
          <p:cNvSpPr/>
          <p:nvPr/>
        </p:nvSpPr>
        <p:spPr>
          <a:xfrm>
            <a:off x="457200" y="3438144"/>
            <a:ext cx="8229600" cy="365760"/>
          </a:xfrm>
          <a:prstGeom prst="rect">
            <a:avLst/>
          </a:prstGeom>
          <a:solidFill>
            <a:srgbClr val="FFFEFB"/>
          </a:solidFill>
          <a:ln w="6350">
            <a:solidFill>
              <a:srgbClr val="E8E2DA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502152"/>
            <a:ext cx="201168" cy="20116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22960" y="343814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62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Rez-Yield Agent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2468880" y="343814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0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Owns the booking decision. Channels are pipes — KevaOS decides who sits where.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7498080" y="3511296"/>
            <a:ext cx="640080" cy="201168"/>
          </a:xfrm>
          <a:prstGeom prst="rect">
            <a:avLst/>
          </a:prstGeom>
          <a:solidFill>
            <a:srgbClr val="F5F1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7C2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BETA</a:t>
            </a:r>
            <a:endParaRPr lang="en-US" sz="700" dirty="0"/>
          </a:p>
        </p:txBody>
      </p:sp>
      <p:sp>
        <p:nvSpPr>
          <p:cNvPr id="28" name="Shape 22"/>
          <p:cNvSpPr/>
          <p:nvPr/>
        </p:nvSpPr>
        <p:spPr>
          <a:xfrm>
            <a:off x="457200" y="3867912"/>
            <a:ext cx="8229600" cy="365760"/>
          </a:xfrm>
          <a:prstGeom prst="rect">
            <a:avLst/>
          </a:prstGeom>
          <a:solidFill>
            <a:srgbClr val="FFFEFB"/>
          </a:solidFill>
          <a:ln w="6350">
            <a:solidFill>
              <a:srgbClr val="E8E2DA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931920"/>
            <a:ext cx="201168" cy="20116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822960" y="386791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62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Vision Agent</a:t>
            </a:r>
            <a:endParaRPr lang="en-US" sz="1000" dirty="0"/>
          </a:p>
        </p:txBody>
      </p:sp>
      <p:sp>
        <p:nvSpPr>
          <p:cNvPr id="31" name="Text 24"/>
          <p:cNvSpPr/>
          <p:nvPr/>
        </p:nvSpPr>
        <p:spPr>
          <a:xfrm>
            <a:off x="2468880" y="38679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0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Detects occupancy from camera snapshots, measures greet times, feeds server scores.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7498080" y="3941064"/>
            <a:ext cx="640080" cy="201168"/>
          </a:xfrm>
          <a:prstGeom prst="rect">
            <a:avLst/>
          </a:prstGeom>
          <a:solidFill>
            <a:srgbClr val="F5F1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7C2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BETA</a:t>
            </a:r>
            <a:endParaRPr lang="en-US" sz="700" dirty="0"/>
          </a:p>
        </p:txBody>
      </p:sp>
      <p:sp>
        <p:nvSpPr>
          <p:cNvPr id="33" name="Shape 26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solidFill>
            <a:srgbClr val="FFFEFB"/>
          </a:solidFill>
          <a:ln w="6350">
            <a:solidFill>
              <a:srgbClr val="E8E2DA"/>
            </a:solidFill>
            <a:prstDash val="solid"/>
          </a:ln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4361688"/>
            <a:ext cx="201168" cy="201168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822960" y="42976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62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Procurement Agent</a:t>
            </a:r>
            <a:endParaRPr lang="en-US" sz="1000" dirty="0"/>
          </a:p>
        </p:txBody>
      </p:sp>
      <p:sp>
        <p:nvSpPr>
          <p:cNvPr id="36" name="Text 28"/>
          <p:cNvSpPr/>
          <p:nvPr/>
        </p:nvSpPr>
        <p:spPr>
          <a:xfrm>
            <a:off x="2468880" y="4297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0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Builds POs, routes to Binyan entities, auto-executes under $500.</a:t>
            </a:r>
            <a:endParaRPr lang="en-US" sz="900" dirty="0"/>
          </a:p>
        </p:txBody>
      </p:sp>
      <p:sp>
        <p:nvSpPr>
          <p:cNvPr id="37" name="Text 29"/>
          <p:cNvSpPr/>
          <p:nvPr/>
        </p:nvSpPr>
        <p:spPr>
          <a:xfrm>
            <a:off x="7498080" y="4370832"/>
            <a:ext cx="640080" cy="201168"/>
          </a:xfrm>
          <a:prstGeom prst="rect">
            <a:avLst/>
          </a:prstGeom>
          <a:solidFill>
            <a:srgbClr val="8B7E6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EF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Q2</a:t>
            </a:r>
            <a:endParaRPr lang="en-US" sz="700" dirty="0"/>
          </a:p>
        </p:txBody>
      </p:sp>
      <p:sp>
        <p:nvSpPr>
          <p:cNvPr id="38" name="Text 30"/>
          <p:cNvSpPr/>
          <p:nvPr/>
        </p:nvSpPr>
        <p:spPr>
          <a:xfrm>
            <a:off x="640080" y="46177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7E6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These aren't features with AI sprinkled on top. They're autonomous agents that take action without waiting for a human.</a:t>
            </a:r>
            <a:endParaRPr lang="en-US" sz="1100" dirty="0"/>
          </a:p>
        </p:txBody>
      </p:sp>
      <p:sp>
        <p:nvSpPr>
          <p:cNvPr id="39" name="Text 31"/>
          <p:cNvSpPr/>
          <p:nvPr/>
        </p:nvSpPr>
        <p:spPr>
          <a:xfrm>
            <a:off x="8321040" y="4709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5AD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462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C19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Keva</a:t>
            </a:r>
            <a:pPr indent="0" marL="0">
              <a:buNone/>
            </a:pPr>
            <a:r>
              <a:rPr lang="en-US" sz="1000" spc="200" kern="0" dirty="0">
                <a:solidFill>
                  <a:srgbClr val="D462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9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Labor Rails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7E6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schedule doesn't publish unless it's within bounds.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3931920" cy="2926080"/>
          </a:xfrm>
          <a:prstGeom prst="rect">
            <a:avLst/>
          </a:prstGeom>
          <a:solidFill>
            <a:srgbClr val="FFFEFB"/>
          </a:solidFill>
          <a:ln w="6350">
            <a:solidFill>
              <a:srgbClr val="E8E2DA"/>
            </a:solidFill>
            <a:prstDash val="solid"/>
          </a:ln>
          <a:effectLst>
            <a:outerShdw sx="100000" sy="100000" kx="0" ky="0" algn="bl" rotWithShape="0" blurRad="50800" dist="12700" dir="8100000">
              <a:srgbClr val="1C1917">
                <a:alpha val="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62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4:30 PM PILE-UP PROBLEM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B7E6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Modeled on real high-volume restaurant data: all servers scheduled to arrive at the same time. Three hours of excess labor before the dining room fills. $625K/year in wasted payroll at a single venue.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2004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462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$625K</a:t>
            </a:r>
            <a:pPr indent="0" marL="0">
              <a:buNone/>
            </a:pPr>
            <a:r>
              <a:rPr lang="en-US" sz="1300" dirty="0">
                <a:solidFill>
                  <a:srgbClr val="8B7E6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/yr savings</a:t>
            </a:r>
            <a:endParaRPr lang="en-US" sz="3400" dirty="0"/>
          </a:p>
          <a:p>
            <a:pPr indent="0" marL="0">
              <a:buNone/>
            </a:pPr>
            <a:r>
              <a:rPr lang="en-US" sz="1300" dirty="0">
                <a:solidFill>
                  <a:srgbClr val="8B7E6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per venue (validated)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4754880" y="1554480"/>
            <a:ext cx="3931920" cy="2926080"/>
          </a:xfrm>
          <a:prstGeom prst="rect">
            <a:avLst/>
          </a:prstGeom>
          <a:solidFill>
            <a:srgbClr val="FFFEFB"/>
          </a:solidFill>
          <a:ln w="6350">
            <a:solidFill>
              <a:srgbClr val="E8E2DA"/>
            </a:solidFill>
            <a:prstDash val="solid"/>
          </a:ln>
          <a:effectLst>
            <a:outerShdw sx="100000" sy="100000" kx="0" ky="0" algn="bl" rotWithShape="0" blurRad="50800" dist="12700" dir="8100000">
              <a:srgbClr val="1C1917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62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HOW LABOR RAILS WORK</a:t>
            </a:r>
            <a:endParaRPr lang="en-US" sz="11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83480" y="2057400"/>
            <a:ext cx="182880" cy="18288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303520" y="2011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0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Max SPLH by daypart from 7shifts data</a:t>
            </a:r>
            <a:endParaRPr lang="en-US" sz="11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2441448"/>
            <a:ext cx="182880" cy="1828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03520" y="23957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0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Staggered start times enforced</a:t>
            </a:r>
            <a:endParaRPr lang="en-US" sz="11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2825496"/>
            <a:ext cx="182880" cy="1828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303520" y="277977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0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Staff-to-cover ratio by section</a:t>
            </a:r>
            <a:endParaRPr lang="en-US" sz="11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209544"/>
            <a:ext cx="182880" cy="1828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303520" y="316382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0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Mid-service cut/call-in recommendations</a:t>
            </a:r>
            <a:endParaRPr lang="en-US" sz="11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0" y="3593592"/>
            <a:ext cx="182880" cy="18288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303520" y="35478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0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OT threshold alerts before approval</a:t>
            </a:r>
            <a:endParaRPr lang="en-US" sz="11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3977640"/>
            <a:ext cx="182880" cy="18288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5303520" y="3931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0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Schedule blocked until rails pass</a:t>
            </a:r>
            <a:endParaRPr lang="en-US" sz="1100" dirty="0"/>
          </a:p>
        </p:txBody>
      </p:sp>
      <p:sp>
        <p:nvSpPr>
          <p:cNvPr id="24" name="Text 16"/>
          <p:cNvSpPr/>
          <p:nvPr/>
        </p:nvSpPr>
        <p:spPr>
          <a:xfrm>
            <a:off x="640080" y="46177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7E6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Portfolio-wide labor savings: $1M+ annually across a multi-venue operator.</a:t>
            </a:r>
            <a:endParaRPr lang="en-US" sz="1100" dirty="0"/>
          </a:p>
        </p:txBody>
      </p:sp>
      <p:sp>
        <p:nvSpPr>
          <p:cNvPr id="25" name="Text 17"/>
          <p:cNvSpPr/>
          <p:nvPr/>
        </p:nvSpPr>
        <p:spPr>
          <a:xfrm>
            <a:off x="8321040" y="4709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5AD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462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C19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Keva</a:t>
            </a:r>
            <a:pPr indent="0" marL="0">
              <a:buNone/>
            </a:pPr>
            <a:r>
              <a:rPr lang="en-US" sz="1000" spc="200" kern="0" dirty="0">
                <a:solidFill>
                  <a:srgbClr val="D462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9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 Enforcement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7E6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Every comp reviewed by AI against policy. Every night. No exceptions.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3931920" cy="2926080"/>
          </a:xfrm>
          <a:prstGeom prst="rect">
            <a:avLst/>
          </a:prstGeom>
          <a:solidFill>
            <a:srgbClr val="FFFEFB"/>
          </a:solidFill>
          <a:ln w="6350">
            <a:solidFill>
              <a:srgbClr val="E8E2DA"/>
            </a:solidFill>
            <a:prstDash val="solid"/>
          </a:ln>
          <a:effectLst>
            <a:outerShdw sx="100000" sy="100000" kx="0" ky="0" algn="bl" rotWithShape="0" blurRad="50800" dist="12700" dir="8100000">
              <a:srgbClr val="1C1917">
                <a:alpha val="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62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011680"/>
            <a:ext cx="256032" cy="256032"/>
          </a:xfrm>
          <a:prstGeom prst="ellipse">
            <a:avLst/>
          </a:prstGeom>
          <a:solidFill>
            <a:srgbClr val="D4622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0116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EF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19842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0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POS data syncs in real time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450592"/>
            <a:ext cx="256032" cy="256032"/>
          </a:xfrm>
          <a:prstGeom prst="ellipse">
            <a:avLst/>
          </a:prstGeom>
          <a:solidFill>
            <a:srgbClr val="D4622B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4505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EF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05840" y="2423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0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Every comp flagged against venue policy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889504"/>
            <a:ext cx="256032" cy="256032"/>
          </a:xfrm>
          <a:prstGeom prst="ellipse">
            <a:avLst/>
          </a:prstGeom>
          <a:solidFill>
            <a:srgbClr val="D4622B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8895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EF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05840" y="28620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0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 reviews patterns: same server, same reason, consecutive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3328416"/>
            <a:ext cx="256032" cy="256032"/>
          </a:xfrm>
          <a:prstGeom prst="ellipse">
            <a:avLst/>
          </a:prstGeom>
          <a:solidFill>
            <a:srgbClr val="D4622B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3284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EF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05840" y="330098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0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Violations created in control plane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3767328"/>
            <a:ext cx="256032" cy="256032"/>
          </a:xfrm>
          <a:prstGeom prst="ellipse">
            <a:avLst/>
          </a:prstGeom>
          <a:solidFill>
            <a:srgbClr val="D4622B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7673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EF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05840" y="373989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0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Manager must attest nightly — can't skip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1554480"/>
            <a:ext cx="3931920" cy="2926080"/>
          </a:xfrm>
          <a:prstGeom prst="rect">
            <a:avLst/>
          </a:prstGeom>
          <a:solidFill>
            <a:srgbClr val="FFFEFB"/>
          </a:solidFill>
          <a:ln w="6350">
            <a:solidFill>
              <a:srgbClr val="E8E2DA"/>
            </a:solidFill>
            <a:prstDash val="solid"/>
          </a:ln>
          <a:effectLst>
            <a:outerShdw sx="100000" sy="100000" kx="0" ky="0" algn="bl" rotWithShape="0" blurRad="50800" dist="12700" dir="8100000">
              <a:srgbClr val="1C1917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1554480"/>
            <a:ext cx="36576" cy="2926080"/>
          </a:xfrm>
          <a:prstGeom prst="rect">
            <a:avLst/>
          </a:prstGeom>
          <a:solidFill>
            <a:srgbClr val="5C6B4F"/>
          </a:solidFill>
          <a:ln/>
        </p:spPr>
      </p:sp>
      <p:sp>
        <p:nvSpPr>
          <p:cNvPr id="25" name="Text 23"/>
          <p:cNvSpPr/>
          <p:nvPr/>
        </p:nvSpPr>
        <p:spPr>
          <a:xfrm>
            <a:off x="493776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6B4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POLICY CONTROLS</a:t>
            </a:r>
            <a:endParaRPr lang="en-US" sz="1100" dirty="0"/>
          </a:p>
        </p:txBody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83480" y="2057400"/>
            <a:ext cx="182880" cy="18288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5303520" y="2011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0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Approved comp reasons with max amounts</a:t>
            </a:r>
            <a:endParaRPr lang="en-US" sz="1100" dirty="0"/>
          </a:p>
        </p:txBody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2441448"/>
            <a:ext cx="182880" cy="18288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5303520" y="23957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0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Daily comp % warning/critical thresholds</a:t>
            </a:r>
            <a:endParaRPr lang="en-US" sz="1100" dirty="0"/>
          </a:p>
        </p:txBody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2825496"/>
            <a:ext cx="182880" cy="18288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5303520" y="277977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0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Server-level comp dollar limits</a:t>
            </a:r>
            <a:endParaRPr lang="en-US" sz="1100" dirty="0"/>
          </a:p>
        </p:txBody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209544"/>
            <a:ext cx="182880" cy="18288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5303520" y="316382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0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Manager authority tiers</a:t>
            </a:r>
            <a:endParaRPr lang="en-US" sz="1100" dirty="0"/>
          </a:p>
        </p:txBody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0" y="3593592"/>
            <a:ext cx="182880" cy="18288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5303520" y="35478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0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High-value comp auto-escalation</a:t>
            </a:r>
            <a:endParaRPr lang="en-US" sz="1100" dirty="0"/>
          </a:p>
        </p:txBody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3977640"/>
            <a:ext cx="182880" cy="18288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5303520" y="3931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0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Immutable audit trail (version control)</a:t>
            </a:r>
            <a:endParaRPr lang="en-US" sz="1100" dirty="0"/>
          </a:p>
        </p:txBody>
      </p:sp>
      <p:sp>
        <p:nvSpPr>
          <p:cNvPr id="38" name="Text 30"/>
          <p:cNvSpPr/>
          <p:nvPr/>
        </p:nvSpPr>
        <p:spPr>
          <a:xfrm>
            <a:off x="640080" y="46177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440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Industry benchmark: 2–5% of gross revenue lost to ungoverned comps. At $10M revenue, that's $200–500K/year.</a:t>
            </a:r>
            <a:endParaRPr lang="en-US" sz="1100" dirty="0"/>
          </a:p>
        </p:txBody>
      </p:sp>
      <p:sp>
        <p:nvSpPr>
          <p:cNvPr id="39" name="Text 31"/>
          <p:cNvSpPr/>
          <p:nvPr/>
        </p:nvSpPr>
        <p:spPr>
          <a:xfrm>
            <a:off x="8321040" y="4709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5AD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462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C19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Keva</a:t>
            </a:r>
            <a:pPr indent="0" marL="0">
              <a:buNone/>
            </a:pPr>
            <a:r>
              <a:rPr lang="en-US" sz="1000" spc="200" kern="0" dirty="0">
                <a:solidFill>
                  <a:srgbClr val="D462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9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KevaOS Is the Booking Engine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7E6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Resy, OpenTable, SevenRooms become channels. KevaOS owns the decision.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8229600" cy="822960"/>
          </a:xfrm>
          <a:prstGeom prst="rect">
            <a:avLst/>
          </a:prstGeom>
          <a:solidFill>
            <a:srgbClr val="F5F1EB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554480"/>
            <a:ext cx="1325880" cy="320040"/>
          </a:xfrm>
          <a:prstGeom prst="rect">
            <a:avLst/>
          </a:prstGeom>
          <a:solidFill>
            <a:srgbClr val="F5F1EB"/>
          </a:solidFill>
          <a:ln w="6350">
            <a:solidFill>
              <a:srgbClr val="E8E2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55448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0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Resy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194560" y="1554480"/>
            <a:ext cx="1325880" cy="320040"/>
          </a:xfrm>
          <a:prstGeom prst="rect">
            <a:avLst/>
          </a:prstGeom>
          <a:solidFill>
            <a:srgbClr val="F5F1EB"/>
          </a:solidFill>
          <a:ln w="6350">
            <a:solidFill>
              <a:srgbClr val="E8E2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94560" y="155448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0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OpenTable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749040" y="1554480"/>
            <a:ext cx="1325880" cy="320040"/>
          </a:xfrm>
          <a:prstGeom prst="rect">
            <a:avLst/>
          </a:prstGeom>
          <a:solidFill>
            <a:srgbClr val="F5F1EB"/>
          </a:solidFill>
          <a:ln w="6350">
            <a:solidFill>
              <a:srgbClr val="E8E2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49040" y="155448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0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SevenRooms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303520" y="1554480"/>
            <a:ext cx="1325880" cy="320040"/>
          </a:xfrm>
          <a:prstGeom prst="rect">
            <a:avLst/>
          </a:prstGeom>
          <a:solidFill>
            <a:srgbClr val="F5F1EB"/>
          </a:solidFill>
          <a:ln w="6350">
            <a:solidFill>
              <a:srgbClr val="E8E2D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0" y="155448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0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Walk-ins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858000" y="1554480"/>
            <a:ext cx="1325880" cy="320040"/>
          </a:xfrm>
          <a:prstGeom prst="rect">
            <a:avLst/>
          </a:prstGeom>
          <a:solidFill>
            <a:srgbClr val="F5F1EB"/>
          </a:solidFill>
          <a:ln w="6350">
            <a:solidFill>
              <a:srgbClr val="E8E2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0" y="155448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0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Phone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1965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62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All channels feed into KevaOS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286000"/>
            <a:ext cx="8229600" cy="502920"/>
          </a:xfrm>
          <a:prstGeom prst="rect">
            <a:avLst/>
          </a:prstGeom>
          <a:solidFill>
            <a:srgbClr val="FDF5EF"/>
          </a:solidFill>
          <a:ln w="12700">
            <a:solidFill>
              <a:srgbClr val="D462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22860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9252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KEVAOS REZ-YIELD AGENT  —  Accept  ·  Deny  ·  Waitlist  ·  Offer Alternate  ·  Auto-seat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2926080"/>
            <a:ext cx="3931920" cy="1554480"/>
          </a:xfrm>
          <a:prstGeom prst="rect">
            <a:avLst/>
          </a:prstGeom>
          <a:solidFill>
            <a:srgbClr val="FFFEFB"/>
          </a:solidFill>
          <a:ln w="6350">
            <a:solidFill>
              <a:srgbClr val="E8E2DA"/>
            </a:solidFill>
            <a:prstDash val="solid"/>
          </a:ln>
          <a:effectLst>
            <a:outerShdw sx="100000" sy="100000" kx="0" ky="0" algn="bl" rotWithShape="0" blurRad="50800" dist="12700" dir="8100000">
              <a:srgbClr val="1C1917">
                <a:alpha val="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0080" y="30175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62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FLOOR PLAN MANAGEMENT</a:t>
            </a:r>
            <a:endParaRPr lang="en-US" sz="10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337560"/>
            <a:ext cx="146304" cy="146304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868680" y="331012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0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Drag-and-drop table layout editor</a:t>
            </a:r>
            <a:endParaRPr lang="en-US" sz="900" dirty="0"/>
          </a:p>
        </p:txBody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547872"/>
            <a:ext cx="146304" cy="146304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868680" y="352044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0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Section management with staff assignment</a:t>
            </a:r>
            <a:endParaRPr lang="en-US" sz="90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758184"/>
            <a:ext cx="146304" cy="146304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868680" y="373075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0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Real-time table state machine (7 states)</a:t>
            </a:r>
            <a:endParaRPr lang="en-US" sz="90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968496"/>
            <a:ext cx="146304" cy="146304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868680" y="394106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0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Turn tracking with duration forecasting</a:t>
            </a:r>
            <a:endParaRPr lang="en-US" sz="900" dirty="0"/>
          </a:p>
        </p:txBody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178808"/>
            <a:ext cx="146304" cy="146304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868680" y="415137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0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Table combos for large parties</a:t>
            </a:r>
            <a:endParaRPr lang="en-US" sz="900" dirty="0"/>
          </a:p>
        </p:txBody>
      </p:sp>
      <p:sp>
        <p:nvSpPr>
          <p:cNvPr id="32" name="Shape 25"/>
          <p:cNvSpPr/>
          <p:nvPr/>
        </p:nvSpPr>
        <p:spPr>
          <a:xfrm>
            <a:off x="4754880" y="2926080"/>
            <a:ext cx="3931920" cy="1554480"/>
          </a:xfrm>
          <a:prstGeom prst="rect">
            <a:avLst/>
          </a:prstGeom>
          <a:solidFill>
            <a:srgbClr val="FFFEFB"/>
          </a:solidFill>
          <a:ln w="6350">
            <a:solidFill>
              <a:srgbClr val="E8E2DA"/>
            </a:solidFill>
            <a:prstDash val="solid"/>
          </a:ln>
          <a:effectLst>
            <a:outerShdw sx="100000" sy="100000" kx="0" ky="0" algn="bl" rotWithShape="0" blurRad="50800" dist="12700" dir="8100000">
              <a:srgbClr val="1C1917">
                <a:alpha val="6000"/>
              </a:srgbClr>
            </a:outerShdw>
          </a:effectLst>
        </p:spPr>
      </p:sp>
      <p:sp>
        <p:nvSpPr>
          <p:cNvPr id="33" name="Text 26"/>
          <p:cNvSpPr/>
          <p:nvPr/>
        </p:nvSpPr>
        <p:spPr>
          <a:xfrm>
            <a:off x="4937760" y="30175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6B4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YIELD OPTIMIZATION</a:t>
            </a:r>
            <a:endParaRPr lang="en-US" sz="1000" dirty="0"/>
          </a:p>
        </p:txBody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337560"/>
            <a:ext cx="146304" cy="146304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5166360" y="331012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0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Per-slot demand + duration forecasting</a:t>
            </a:r>
            <a:endParaRPr lang="en-US" sz="900" dirty="0"/>
          </a:p>
        </p:txBody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0" y="3547872"/>
            <a:ext cx="146304" cy="146304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5166360" y="352044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0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Stress scoring blocks overbooking</a:t>
            </a:r>
            <a:endParaRPr lang="en-US" sz="900" dirty="0"/>
          </a:p>
        </p:txBody>
      </p:sp>
      <p:pic>
        <p:nvPicPr>
          <p:cNvPr id="3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37760" y="3758184"/>
            <a:ext cx="146304" cy="146304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5166360" y="373075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0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VIP table protection by level</a:t>
            </a:r>
            <a:endParaRPr lang="en-US" sz="900" dirty="0"/>
          </a:p>
        </p:txBody>
      </p:sp>
      <p:pic>
        <p:nvPicPr>
          <p:cNvPr id="4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37760" y="3968496"/>
            <a:ext cx="146304" cy="146304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5166360" y="394106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0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Value delta vs. slot demand (RevPASH)</a:t>
            </a:r>
            <a:endParaRPr lang="en-US" sz="900" dirty="0"/>
          </a:p>
        </p:txBody>
      </p:sp>
      <p:pic>
        <p:nvPicPr>
          <p:cNvPr id="4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37760" y="4178808"/>
            <a:ext cx="146304" cy="146304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5166360" y="415137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0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Backtest policy changes before deploy</a:t>
            </a:r>
            <a:endParaRPr lang="en-US" sz="900" dirty="0"/>
          </a:p>
        </p:txBody>
      </p:sp>
      <p:sp>
        <p:nvSpPr>
          <p:cNvPr id="44" name="Text 32"/>
          <p:cNvSpPr/>
          <p:nvPr/>
        </p:nvSpPr>
        <p:spPr>
          <a:xfrm>
            <a:off x="640080" y="46177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7E6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booking platforms become dumb pipes. KevaOS decides who sits where, when, and at what price.</a:t>
            </a:r>
            <a:endParaRPr lang="en-US" sz="1100" dirty="0"/>
          </a:p>
        </p:txBody>
      </p:sp>
      <p:sp>
        <p:nvSpPr>
          <p:cNvPr id="45" name="Text 33"/>
          <p:cNvSpPr/>
          <p:nvPr/>
        </p:nvSpPr>
        <p:spPr>
          <a:xfrm>
            <a:off x="8321040" y="4709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5AD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462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C19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Keva</a:t>
            </a:r>
            <a:pPr indent="0" marL="0">
              <a:buNone/>
            </a:pPr>
            <a:r>
              <a:rPr lang="en-US" sz="1000" spc="200" kern="0" dirty="0">
                <a:solidFill>
                  <a:srgbClr val="D462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9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Procurement Agent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7E6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Monitors consumption. Builds the PO. Routes through your supply chain. Auto-executes.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8229600" cy="594360"/>
          </a:xfrm>
          <a:prstGeom prst="rect">
            <a:avLst/>
          </a:prstGeom>
          <a:solidFill>
            <a:srgbClr val="F5F1E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0876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0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One trigger. Three revenue events:  </a:t>
            </a:r>
            <a:pPr indent="0" marL="0">
              <a:buNone/>
            </a:pPr>
            <a:r>
              <a:rPr lang="en-US" sz="1200" b="1" dirty="0">
                <a:solidFill>
                  <a:srgbClr val="D462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SaaS fee</a:t>
            </a:r>
            <a:pPr indent="0" marL="0">
              <a:buNone/>
            </a:pPr>
            <a:r>
              <a:rPr lang="en-US" sz="1200" dirty="0">
                <a:solidFill>
                  <a:srgbClr val="B5ADA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 +  </a:t>
            </a:r>
            <a:pPr indent="0" marL="0">
              <a:buNone/>
            </a:pPr>
            <a:r>
              <a:rPr lang="en-US" sz="1200" b="1" dirty="0">
                <a:solidFill>
                  <a:srgbClr val="D462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Product margin</a:t>
            </a:r>
            <a:pPr indent="0" marL="0">
              <a:buNone/>
            </a:pPr>
            <a:r>
              <a:rPr lang="en-US" sz="1200" dirty="0">
                <a:solidFill>
                  <a:srgbClr val="B5ADA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 +  </a:t>
            </a:r>
            <a:pPr indent="0" marL="0">
              <a:buNone/>
            </a:pPr>
            <a:r>
              <a:rPr lang="en-US" sz="1200" b="1" dirty="0">
                <a:solidFill>
                  <a:srgbClr val="D462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Fulfillment margin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3200400" cy="411480"/>
          </a:xfrm>
          <a:prstGeom prst="rect">
            <a:avLst/>
          </a:prstGeom>
          <a:solidFill>
            <a:srgbClr val="FFFEFB"/>
          </a:solidFill>
          <a:ln w="6350">
            <a:solidFill>
              <a:srgbClr val="E8E2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3317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0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Menu item depletion (POS)</a:t>
            </a:r>
            <a:endParaRPr lang="en-US" sz="10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4760" y="2441448"/>
            <a:ext cx="164592" cy="164592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114800" y="2331720"/>
            <a:ext cx="2011680" cy="411480"/>
          </a:xfrm>
          <a:prstGeom prst="rect">
            <a:avLst/>
          </a:prstGeom>
          <a:solidFill>
            <a:srgbClr val="FCEADB"/>
          </a:solidFill>
          <a:ln w="6350">
            <a:solidFill>
              <a:srgbClr val="D4622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114800" y="23317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9252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SHW</a:t>
            </a:r>
            <a:endParaRPr lang="en-US" sz="11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2441448"/>
            <a:ext cx="164592" cy="16459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583680" y="2331720"/>
            <a:ext cx="2103120" cy="411480"/>
          </a:xfrm>
          <a:prstGeom prst="rect">
            <a:avLst/>
          </a:prstGeom>
          <a:solidFill>
            <a:srgbClr val="FFFEFB"/>
          </a:solidFill>
          <a:ln w="6350">
            <a:solidFill>
              <a:srgbClr val="E8E2DA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720840" y="23317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E6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Ingredient restock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57200" y="2834640"/>
            <a:ext cx="3200400" cy="411480"/>
          </a:xfrm>
          <a:prstGeom prst="rect">
            <a:avLst/>
          </a:prstGeom>
          <a:solidFill>
            <a:srgbClr val="FFFEFB"/>
          </a:solidFill>
          <a:ln w="6350">
            <a:solidFill>
              <a:srgbClr val="E8E2D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94360" y="28346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0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Packaging burn rate</a:t>
            </a:r>
            <a:endParaRPr lang="en-US" sz="10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760" y="2944368"/>
            <a:ext cx="164592" cy="164592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4114800" y="2834640"/>
            <a:ext cx="2011680" cy="411480"/>
          </a:xfrm>
          <a:prstGeom prst="rect">
            <a:avLst/>
          </a:prstGeom>
          <a:solidFill>
            <a:srgbClr val="FCEADB"/>
          </a:solidFill>
          <a:ln w="6350">
            <a:solidFill>
              <a:srgbClr val="D4622B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4114800" y="28346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9252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Shureprint</a:t>
            </a:r>
            <a:endParaRPr lang="en-US" sz="11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2944368"/>
            <a:ext cx="164592" cy="164592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6583680" y="2834640"/>
            <a:ext cx="2103120" cy="411480"/>
          </a:xfrm>
          <a:prstGeom prst="rect">
            <a:avLst/>
          </a:prstGeom>
          <a:solidFill>
            <a:srgbClr val="FFFEFB"/>
          </a:solidFill>
          <a:ln w="6350">
            <a:solidFill>
              <a:srgbClr val="E8E2DA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6720840" y="28346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E6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Custom packaging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457200" y="3337560"/>
            <a:ext cx="3200400" cy="411480"/>
          </a:xfrm>
          <a:prstGeom prst="rect">
            <a:avLst/>
          </a:prstGeom>
          <a:solidFill>
            <a:srgbClr val="FFFEFB"/>
          </a:solidFill>
          <a:ln w="6350">
            <a:solidFill>
              <a:srgbClr val="E8E2DA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594360" y="33375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0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Cleaning SLA trigger</a:t>
            </a:r>
            <a:endParaRPr lang="en-US" sz="1000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4760" y="3447288"/>
            <a:ext cx="164592" cy="164592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4114800" y="3337560"/>
            <a:ext cx="2011680" cy="411480"/>
          </a:xfrm>
          <a:prstGeom prst="rect">
            <a:avLst/>
          </a:prstGeom>
          <a:solidFill>
            <a:srgbClr val="FCEADB"/>
          </a:solidFill>
          <a:ln w="6350">
            <a:solidFill>
              <a:srgbClr val="D4622B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4114800" y="33375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9252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GroundOps</a:t>
            </a:r>
            <a:endParaRPr lang="en-US" sz="1100" dirty="0"/>
          </a:p>
        </p:txBody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40" y="3447288"/>
            <a:ext cx="164592" cy="164592"/>
          </a:xfrm>
          <a:prstGeom prst="rect">
            <a:avLst/>
          </a:prstGeom>
        </p:spPr>
      </p:pic>
      <p:sp>
        <p:nvSpPr>
          <p:cNvPr id="30" name="Shape 22"/>
          <p:cNvSpPr/>
          <p:nvPr/>
        </p:nvSpPr>
        <p:spPr>
          <a:xfrm>
            <a:off x="6583680" y="3337560"/>
            <a:ext cx="2103120" cy="411480"/>
          </a:xfrm>
          <a:prstGeom prst="rect">
            <a:avLst/>
          </a:prstGeom>
          <a:solidFill>
            <a:srgbClr val="FFFEFB"/>
          </a:solidFill>
          <a:ln w="6350">
            <a:solidFill>
              <a:srgbClr val="E8E2DA"/>
            </a:solidFill>
            <a:prstDash val="solid"/>
          </a:ln>
        </p:spPr>
      </p:sp>
      <p:sp>
        <p:nvSpPr>
          <p:cNvPr id="31" name="Text 23"/>
          <p:cNvSpPr/>
          <p:nvPr/>
        </p:nvSpPr>
        <p:spPr>
          <a:xfrm>
            <a:off x="6720840" y="33375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E6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Consumables</a:t>
            </a:r>
            <a:endParaRPr lang="en-US" sz="1000" dirty="0"/>
          </a:p>
        </p:txBody>
      </p:sp>
      <p:sp>
        <p:nvSpPr>
          <p:cNvPr id="32" name="Shape 24"/>
          <p:cNvSpPr/>
          <p:nvPr/>
        </p:nvSpPr>
        <p:spPr>
          <a:xfrm>
            <a:off x="457200" y="3840480"/>
            <a:ext cx="3200400" cy="411480"/>
          </a:xfrm>
          <a:prstGeom prst="rect">
            <a:avLst/>
          </a:prstGeom>
          <a:solidFill>
            <a:srgbClr val="FFFEFB"/>
          </a:solidFill>
          <a:ln w="6350">
            <a:solidFill>
              <a:srgbClr val="E8E2DA"/>
            </a:solidFill>
            <a:prstDash val="solid"/>
          </a:ln>
        </p:spPr>
      </p:sp>
      <p:sp>
        <p:nvSpPr>
          <p:cNvPr id="33" name="Text 25"/>
          <p:cNvSpPr/>
          <p:nvPr/>
        </p:nvSpPr>
        <p:spPr>
          <a:xfrm>
            <a:off x="594360" y="38404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0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Equipment wear / opening</a:t>
            </a:r>
            <a:endParaRPr lang="en-US" sz="1000" dirty="0"/>
          </a:p>
        </p:txBody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94760" y="3950208"/>
            <a:ext cx="164592" cy="164592"/>
          </a:xfrm>
          <a:prstGeom prst="rect">
            <a:avLst/>
          </a:prstGeom>
        </p:spPr>
      </p:pic>
      <p:sp>
        <p:nvSpPr>
          <p:cNvPr id="35" name="Shape 26"/>
          <p:cNvSpPr/>
          <p:nvPr/>
        </p:nvSpPr>
        <p:spPr>
          <a:xfrm>
            <a:off x="4114800" y="3840480"/>
            <a:ext cx="2011680" cy="411480"/>
          </a:xfrm>
          <a:prstGeom prst="rect">
            <a:avLst/>
          </a:prstGeom>
          <a:solidFill>
            <a:srgbClr val="FCEADB"/>
          </a:solidFill>
          <a:ln w="6350">
            <a:solidFill>
              <a:srgbClr val="D4622B"/>
            </a:solidFill>
            <a:prstDash val="solid"/>
          </a:ln>
        </p:spPr>
      </p:sp>
      <p:sp>
        <p:nvSpPr>
          <p:cNvPr id="36" name="Text 27"/>
          <p:cNvSpPr/>
          <p:nvPr/>
        </p:nvSpPr>
        <p:spPr>
          <a:xfrm>
            <a:off x="4114800" y="38404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9252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E&amp;E Mercantile</a:t>
            </a:r>
            <a:endParaRPr lang="en-US" sz="1100" dirty="0"/>
          </a:p>
        </p:txBody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3640" y="3950208"/>
            <a:ext cx="164592" cy="164592"/>
          </a:xfrm>
          <a:prstGeom prst="rect">
            <a:avLst/>
          </a:prstGeom>
        </p:spPr>
      </p:pic>
      <p:sp>
        <p:nvSpPr>
          <p:cNvPr id="38" name="Shape 28"/>
          <p:cNvSpPr/>
          <p:nvPr/>
        </p:nvSpPr>
        <p:spPr>
          <a:xfrm>
            <a:off x="6583680" y="3840480"/>
            <a:ext cx="2103120" cy="411480"/>
          </a:xfrm>
          <a:prstGeom prst="rect">
            <a:avLst/>
          </a:prstGeom>
          <a:solidFill>
            <a:srgbClr val="FFFEFB"/>
          </a:solidFill>
          <a:ln w="6350">
            <a:solidFill>
              <a:srgbClr val="E8E2DA"/>
            </a:solidFill>
            <a:prstDash val="solid"/>
          </a:ln>
        </p:spPr>
      </p:sp>
      <p:sp>
        <p:nvSpPr>
          <p:cNvPr id="39" name="Text 29"/>
          <p:cNvSpPr/>
          <p:nvPr/>
        </p:nvSpPr>
        <p:spPr>
          <a:xfrm>
            <a:off x="6720840" y="38404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E6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FF&amp;E, uniforms, OS&amp;E</a:t>
            </a:r>
            <a:endParaRPr lang="en-US" sz="1000" dirty="0"/>
          </a:p>
        </p:txBody>
      </p:sp>
      <p:sp>
        <p:nvSpPr>
          <p:cNvPr id="40" name="Shape 30"/>
          <p:cNvSpPr/>
          <p:nvPr/>
        </p:nvSpPr>
        <p:spPr>
          <a:xfrm>
            <a:off x="457200" y="4160520"/>
            <a:ext cx="3931920" cy="640080"/>
          </a:xfrm>
          <a:prstGeom prst="rect">
            <a:avLst/>
          </a:prstGeom>
          <a:solidFill>
            <a:srgbClr val="FFFEFB"/>
          </a:solidFill>
          <a:ln w="6350">
            <a:solidFill>
              <a:srgbClr val="E8E2DA"/>
            </a:solidFill>
            <a:prstDash val="solid"/>
          </a:ln>
        </p:spPr>
      </p:sp>
      <p:sp>
        <p:nvSpPr>
          <p:cNvPr id="41" name="Text 31"/>
          <p:cNvSpPr/>
          <p:nvPr/>
        </p:nvSpPr>
        <p:spPr>
          <a:xfrm>
            <a:off x="594360" y="41605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E6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Decision tiers: </a:t>
            </a:r>
            <a:pPr indent="0" marL="0">
              <a:buNone/>
            </a:pPr>
            <a:r>
              <a:rPr lang="en-US" sz="1000" b="1" dirty="0">
                <a:solidFill>
                  <a:srgbClr val="D462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 (&lt;$500)</a:t>
            </a:r>
            <a:pPr indent="0" marL="0">
              <a:buNone/>
            </a:pPr>
            <a:r>
              <a:rPr lang="en-US" sz="1000" dirty="0">
                <a:solidFill>
                  <a:srgbClr val="8B7E6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· Manager ($500–$2.5K) · Exec ($2.5K+)</a:t>
            </a:r>
            <a:endParaRPr lang="en-US" sz="1000" dirty="0"/>
          </a:p>
        </p:txBody>
      </p:sp>
      <p:sp>
        <p:nvSpPr>
          <p:cNvPr id="42" name="Shape 32"/>
          <p:cNvSpPr/>
          <p:nvPr/>
        </p:nvSpPr>
        <p:spPr>
          <a:xfrm>
            <a:off x="4754880" y="4160520"/>
            <a:ext cx="3931920" cy="640080"/>
          </a:xfrm>
          <a:prstGeom prst="rect">
            <a:avLst/>
          </a:prstGeom>
          <a:solidFill>
            <a:srgbClr val="FFFEFB"/>
          </a:solidFill>
          <a:ln w="6350">
            <a:solidFill>
              <a:srgbClr val="E8E2DA"/>
            </a:solidFill>
            <a:prstDash val="solid"/>
          </a:ln>
        </p:spPr>
      </p:sp>
      <p:sp>
        <p:nvSpPr>
          <p:cNvPr id="43" name="Text 33"/>
          <p:cNvSpPr/>
          <p:nvPr/>
        </p:nvSpPr>
        <p:spPr>
          <a:xfrm>
            <a:off x="4892040" y="41605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E6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Anomaly detection: </a:t>
            </a:r>
            <a:pPr indent="0" marL="0">
              <a:buNone/>
            </a:pPr>
            <a:r>
              <a:rPr lang="en-US" sz="1000" b="1" dirty="0">
                <a:solidFill>
                  <a:srgbClr val="D462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AI-reviewed</a:t>
            </a:r>
            <a:pPr indent="0" marL="0">
              <a:buNone/>
            </a:pPr>
            <a:r>
              <a:rPr lang="en-US" sz="1000" dirty="0">
                <a:solidFill>
                  <a:srgbClr val="8B7E6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— consumption spikes, price variance, waste patterns.</a:t>
            </a:r>
            <a:endParaRPr lang="en-US" sz="1000" dirty="0"/>
          </a:p>
        </p:txBody>
      </p:sp>
      <p:sp>
        <p:nvSpPr>
          <p:cNvPr id="44" name="Text 34"/>
          <p:cNvSpPr/>
          <p:nvPr/>
        </p:nvSpPr>
        <p:spPr>
          <a:xfrm>
            <a:off x="8321040" y="4709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5AD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462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C19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Keva</a:t>
            </a:r>
            <a:pPr indent="0" marL="0">
              <a:buNone/>
            </a:pPr>
            <a:r>
              <a:rPr lang="en-US" sz="1000" spc="200" kern="0" dirty="0">
                <a:solidFill>
                  <a:srgbClr val="D462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9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Attestation &amp; Control Plane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7E6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shift doesn't close until the manager explains every variance.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3931920" cy="2926080"/>
          </a:xfrm>
          <a:prstGeom prst="rect">
            <a:avLst/>
          </a:prstGeom>
          <a:solidFill>
            <a:srgbClr val="FFFEFB"/>
          </a:solidFill>
          <a:ln w="6350">
            <a:solidFill>
              <a:srgbClr val="E8E2DA"/>
            </a:solidFill>
            <a:prstDash val="solid"/>
          </a:ln>
          <a:effectLst>
            <a:outerShdw sx="100000" sy="100000" kx="0" ky="0" algn="bl" rotWithShape="0" blurRad="50800" dist="12700" dir="8100000">
              <a:srgbClr val="1C1917">
                <a:alpha val="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62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ATTESTATION DOMAINS</a:t>
            </a:r>
            <a:endParaRPr lang="en-US" sz="1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011680"/>
            <a:ext cx="164592" cy="16459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19842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0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Revenue variance (vs. forecast)</a:t>
            </a:r>
            <a:endParaRPr lang="en-US" sz="11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350008"/>
            <a:ext cx="164592" cy="16459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232257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0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Labor cost vs. rails</a:t>
            </a:r>
            <a:endParaRPr lang="en-US" sz="11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688336"/>
            <a:ext cx="164592" cy="16459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14400" y="26609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0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 exceptions</a:t>
            </a:r>
            <a:endParaRPr lang="en-US" sz="11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026664"/>
            <a:ext cx="164592" cy="16459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14400" y="29992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0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Incidents (guest, equipment, safety)</a:t>
            </a:r>
            <a:endParaRPr lang="en-US" sz="11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364992"/>
            <a:ext cx="164592" cy="16459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914400" y="3337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0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Coaching notes</a:t>
            </a:r>
            <a:endParaRPr lang="en-US" sz="11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703320"/>
            <a:ext cx="164592" cy="164592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914400" y="36758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0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Entertainment quality</a:t>
            </a:r>
            <a:endParaRPr lang="en-US" sz="110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4041648"/>
            <a:ext cx="164592" cy="164592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914400" y="401421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0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Culinary (86s, quality, prep)</a:t>
            </a:r>
            <a:endParaRPr lang="en-US" sz="1100" dirty="0"/>
          </a:p>
        </p:txBody>
      </p:sp>
      <p:sp>
        <p:nvSpPr>
          <p:cNvPr id="22" name="Shape 13"/>
          <p:cNvSpPr/>
          <p:nvPr/>
        </p:nvSpPr>
        <p:spPr>
          <a:xfrm>
            <a:off x="4754880" y="1554480"/>
            <a:ext cx="3931920" cy="2926080"/>
          </a:xfrm>
          <a:prstGeom prst="rect">
            <a:avLst/>
          </a:prstGeom>
          <a:solidFill>
            <a:srgbClr val="FFFEFB"/>
          </a:solidFill>
          <a:ln w="6350">
            <a:solidFill>
              <a:srgbClr val="E8E2DA"/>
            </a:solidFill>
            <a:prstDash val="solid"/>
          </a:ln>
          <a:effectLst>
            <a:outerShdw sx="100000" sy="100000" kx="0" ky="0" algn="bl" rotWithShape="0" blurRad="50800" dist="12700" dir="8100000">
              <a:srgbClr val="1C1917">
                <a:alpha val="6000"/>
              </a:srgbClr>
            </a:outerShdw>
          </a:effectLst>
        </p:spPr>
      </p:sp>
      <p:sp>
        <p:nvSpPr>
          <p:cNvPr id="23" name="Text 14"/>
          <p:cNvSpPr/>
          <p:nvPr/>
        </p:nvSpPr>
        <p:spPr>
          <a:xfrm>
            <a:off x="493776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6B4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CONTROL PLANE</a:t>
            </a:r>
            <a:endParaRPr lang="en-US" sz="1100" dirty="0"/>
          </a:p>
        </p:txBody>
      </p:sp>
      <p:sp>
        <p:nvSpPr>
          <p:cNvPr id="24" name="Text 15"/>
          <p:cNvSpPr/>
          <p:nvPr/>
        </p:nvSpPr>
        <p:spPr>
          <a:xfrm>
            <a:off x="4937760" y="19659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E6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Every signal flows into a violation state machine with escalation.</a:t>
            </a:r>
            <a:endParaRPr lang="en-US" sz="1000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83480" y="2423160"/>
            <a:ext cx="164592" cy="164592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5257800" y="23957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0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Violations created automatically</a:t>
            </a:r>
            <a:endParaRPr lang="en-US" sz="1100" dirty="0"/>
          </a:p>
        </p:txBody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83480" y="2761488"/>
            <a:ext cx="164592" cy="164592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5257800" y="273405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0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State machine: open → acknowledged → resolved</a:t>
            </a:r>
            <a:endParaRPr lang="en-US" sz="1100" dirty="0"/>
          </a:p>
        </p:txBody>
      </p:sp>
      <p:pic>
        <p:nvPicPr>
          <p:cNvPr id="2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83480" y="3099816"/>
            <a:ext cx="164592" cy="164592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5257800" y="307238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0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Escalation flows (manager → exec → platform)</a:t>
            </a:r>
            <a:endParaRPr lang="en-US" sz="1100" dirty="0"/>
          </a:p>
        </p:txBody>
      </p:sp>
      <p:pic>
        <p:nvPicPr>
          <p:cNvPr id="3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83480" y="3438144"/>
            <a:ext cx="164592" cy="164592"/>
          </a:xfrm>
          <a:prstGeom prst="rect">
            <a:avLst/>
          </a:prstGeom>
        </p:spPr>
      </p:pic>
      <p:sp>
        <p:nvSpPr>
          <p:cNvPr id="32" name="Text 19"/>
          <p:cNvSpPr/>
          <p:nvPr/>
        </p:nvSpPr>
        <p:spPr>
          <a:xfrm>
            <a:off x="5257800" y="34107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0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Carry-forward compliance tracking</a:t>
            </a:r>
            <a:endParaRPr lang="en-US" sz="1100" dirty="0"/>
          </a:p>
        </p:txBody>
      </p:sp>
      <p:pic>
        <p:nvPicPr>
          <p:cNvPr id="3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83480" y="3776472"/>
            <a:ext cx="164592" cy="164592"/>
          </a:xfrm>
          <a:prstGeom prst="rect">
            <a:avLst/>
          </a:prstGeom>
        </p:spPr>
      </p:pic>
      <p:sp>
        <p:nvSpPr>
          <p:cNvPr id="34" name="Text 20"/>
          <p:cNvSpPr/>
          <p:nvPr/>
        </p:nvSpPr>
        <p:spPr>
          <a:xfrm>
            <a:off x="5257800" y="37490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0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AI-generated narrative summaries</a:t>
            </a:r>
            <a:endParaRPr lang="en-US" sz="1100" dirty="0"/>
          </a:p>
        </p:txBody>
      </p:sp>
      <p:pic>
        <p:nvPicPr>
          <p:cNvPr id="35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983480" y="4114800"/>
            <a:ext cx="164592" cy="164592"/>
          </a:xfrm>
          <a:prstGeom prst="rect">
            <a:avLst/>
          </a:prstGeom>
        </p:spPr>
      </p:pic>
      <p:sp>
        <p:nvSpPr>
          <p:cNvPr id="36" name="Text 21"/>
          <p:cNvSpPr/>
          <p:nvPr/>
        </p:nvSpPr>
        <p:spPr>
          <a:xfrm>
            <a:off x="5257800" y="40873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0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Nightly email briefing to subscribers</a:t>
            </a:r>
            <a:endParaRPr lang="en-US" sz="1100" dirty="0"/>
          </a:p>
        </p:txBody>
      </p:sp>
      <p:sp>
        <p:nvSpPr>
          <p:cNvPr id="37" name="Text 22"/>
          <p:cNvSpPr/>
          <p:nvPr/>
        </p:nvSpPr>
        <p:spPr>
          <a:xfrm>
            <a:off x="640080" y="46177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7E6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Variance isn't punished — it's explained. But the requirement to explain is permanent.</a:t>
            </a:r>
            <a:endParaRPr lang="en-US" sz="1100" dirty="0"/>
          </a:p>
        </p:txBody>
      </p:sp>
      <p:sp>
        <p:nvSpPr>
          <p:cNvPr id="38" name="Text 23"/>
          <p:cNvSpPr/>
          <p:nvPr/>
        </p:nvSpPr>
        <p:spPr>
          <a:xfrm>
            <a:off x="8321040" y="4709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5AD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462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C19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Keva</a:t>
            </a:r>
            <a:pPr indent="0" marL="0">
              <a:buNone/>
            </a:pPr>
            <a:r>
              <a:rPr lang="en-US" sz="1000" spc="200" kern="0" dirty="0">
                <a:solidFill>
                  <a:srgbClr val="D462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9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Demand Forecasting &amp; Sensors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7E6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Predict demand. Verify execution. Feed the loop.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5029200" cy="3017520"/>
          </a:xfrm>
          <a:prstGeom prst="rect">
            <a:avLst/>
          </a:prstGeom>
          <a:solidFill>
            <a:srgbClr val="FFFEFB"/>
          </a:solidFill>
          <a:ln w="6350">
            <a:solidFill>
              <a:srgbClr val="E8E2DA"/>
            </a:solidFill>
            <a:prstDash val="solid"/>
          </a:ln>
          <a:effectLst>
            <a:outerShdw sx="100000" sy="100000" kx="0" ky="0" algn="bl" rotWithShape="0" blurRad="50800" dist="12700" dir="8100000">
              <a:srgbClr val="1C1917">
                <a:alpha val="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45920"/>
            <a:ext cx="228600" cy="228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16276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62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DEMAND FORECASTING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" y="196596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E6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Covers, revenue, and ingredient demand — predicted daily. Drives labor scheduling, procurement, and prep lists.</a:t>
            </a:r>
            <a:endParaRPr lang="en-US" sz="10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468880"/>
            <a:ext cx="164592" cy="16459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24414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0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Daily cover &amp; revenue predictions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807208"/>
            <a:ext cx="164592" cy="16459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14400" y="277977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0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Hourly demand curves (day-of-week + events)</a:t>
            </a:r>
            <a:endParaRPr lang="en-US" sz="10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145536"/>
            <a:ext cx="164592" cy="16459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14400" y="311810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0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Ingredient demand from forecast + recipes</a:t>
            </a:r>
            <a:endParaRPr lang="en-US" sz="10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483864"/>
            <a:ext cx="164592" cy="16459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914400" y="345643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0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MAPE accuracy tracking per venue</a:t>
            </a:r>
            <a:endParaRPr lang="en-US" sz="10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822192"/>
            <a:ext cx="164592" cy="164592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914400" y="37947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0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Manager override with reason coding</a:t>
            </a:r>
            <a:endParaRPr lang="en-US" sz="100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4160520"/>
            <a:ext cx="164592" cy="164592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914400" y="413308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0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Auto-generated prep lists from forecast</a:t>
            </a:r>
            <a:endParaRPr lang="en-US" sz="1000" dirty="0"/>
          </a:p>
        </p:txBody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" y="4498848"/>
            <a:ext cx="164592" cy="164592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914400" y="447141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0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Rez pacing feeds real-time demand adjustments</a:t>
            </a:r>
            <a:endParaRPr lang="en-US" sz="1000" dirty="0"/>
          </a:p>
        </p:txBody>
      </p:sp>
      <p:sp>
        <p:nvSpPr>
          <p:cNvPr id="24" name="Shape 14"/>
          <p:cNvSpPr/>
          <p:nvPr/>
        </p:nvSpPr>
        <p:spPr>
          <a:xfrm>
            <a:off x="5669280" y="1508760"/>
            <a:ext cx="3017520" cy="3017520"/>
          </a:xfrm>
          <a:prstGeom prst="rect">
            <a:avLst/>
          </a:prstGeom>
          <a:solidFill>
            <a:srgbClr val="FFFEFB"/>
          </a:solidFill>
          <a:ln w="6350">
            <a:solidFill>
              <a:srgbClr val="E8E2DA"/>
            </a:solidFill>
            <a:prstDash val="solid"/>
          </a:ln>
          <a:effectLst>
            <a:outerShdw sx="100000" sy="100000" kx="0" ky="0" algn="bl" rotWithShape="0" blurRad="50800" dist="12700" dir="8100000">
              <a:srgbClr val="1C1917">
                <a:alpha val="6000"/>
              </a:srgbClr>
            </a:outerShdw>
          </a:effectLst>
        </p:spPr>
      </p:sp>
      <p:pic>
        <p:nvPicPr>
          <p:cNvPr id="2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52160" y="1645920"/>
            <a:ext cx="201168" cy="201168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6126480" y="16276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7E6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SENSOR LAYER</a:t>
            </a:r>
            <a:endParaRPr lang="en-US" sz="1100" dirty="0"/>
          </a:p>
        </p:txBody>
      </p:sp>
      <p:sp>
        <p:nvSpPr>
          <p:cNvPr id="27" name="Text 16"/>
          <p:cNvSpPr/>
          <p:nvPr/>
        </p:nvSpPr>
        <p:spPr>
          <a:xfrm>
            <a:off x="5852160" y="19659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7E6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Physical verification inputs that feed the enforcement engine.</a:t>
            </a:r>
            <a:endParaRPr lang="en-US" sz="900" dirty="0"/>
          </a:p>
        </p:txBody>
      </p:sp>
      <p:sp>
        <p:nvSpPr>
          <p:cNvPr id="28" name="Text 17"/>
          <p:cNvSpPr/>
          <p:nvPr/>
        </p:nvSpPr>
        <p:spPr>
          <a:xfrm>
            <a:off x="5852160" y="24688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0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▸ Camera occupancy snapshots</a:t>
            </a:r>
            <a:endParaRPr lang="en-US" sz="900" dirty="0"/>
          </a:p>
        </p:txBody>
      </p:sp>
      <p:sp>
        <p:nvSpPr>
          <p:cNvPr id="29" name="Text 18"/>
          <p:cNvSpPr/>
          <p:nvPr/>
        </p:nvSpPr>
        <p:spPr>
          <a:xfrm>
            <a:off x="5852160" y="27889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0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▸ Greeting time measurement</a:t>
            </a:r>
            <a:endParaRPr lang="en-US" sz="900" dirty="0"/>
          </a:p>
        </p:txBody>
      </p:sp>
      <p:sp>
        <p:nvSpPr>
          <p:cNvPr id="30" name="Text 19"/>
          <p:cNvSpPr/>
          <p:nvPr/>
        </p:nvSpPr>
        <p:spPr>
          <a:xfrm>
            <a:off x="5852160" y="31089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0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▸ Keva Pin (UWB + audio)</a:t>
            </a:r>
            <a:endParaRPr lang="en-US" sz="900" dirty="0"/>
          </a:p>
        </p:txBody>
      </p:sp>
      <p:sp>
        <p:nvSpPr>
          <p:cNvPr id="31" name="Text 20"/>
          <p:cNvSpPr/>
          <p:nvPr/>
        </p:nvSpPr>
        <p:spPr>
          <a:xfrm>
            <a:off x="5852160" y="34290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0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▸ Plating scale integration</a:t>
            </a:r>
            <a:endParaRPr lang="en-US" sz="900" dirty="0"/>
          </a:p>
        </p:txBody>
      </p:sp>
      <p:sp>
        <p:nvSpPr>
          <p:cNvPr id="32" name="Text 21"/>
          <p:cNvSpPr/>
          <p:nvPr/>
        </p:nvSpPr>
        <p:spPr>
          <a:xfrm>
            <a:off x="5852160" y="37490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0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▸ POS real-time transaction sync</a:t>
            </a:r>
            <a:endParaRPr lang="en-US" sz="900" dirty="0"/>
          </a:p>
        </p:txBody>
      </p:sp>
      <p:sp>
        <p:nvSpPr>
          <p:cNvPr id="33" name="Text 22"/>
          <p:cNvSpPr/>
          <p:nvPr/>
        </p:nvSpPr>
        <p:spPr>
          <a:xfrm>
            <a:off x="5852160" y="41148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B5ADA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Sensors provide ground truth. They're one input — not the product.</a:t>
            </a:r>
            <a:endParaRPr lang="en-US" sz="800" dirty="0"/>
          </a:p>
        </p:txBody>
      </p:sp>
      <p:sp>
        <p:nvSpPr>
          <p:cNvPr id="34" name="Text 23"/>
          <p:cNvSpPr/>
          <p:nvPr/>
        </p:nvSpPr>
        <p:spPr>
          <a:xfrm>
            <a:off x="640080" y="46177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7E6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Forecasting is the brain. Sensors are the eyes. The enforcement engine connects them.</a:t>
            </a:r>
            <a:endParaRPr lang="en-US" sz="1100" dirty="0"/>
          </a:p>
        </p:txBody>
      </p:sp>
      <p:sp>
        <p:nvSpPr>
          <p:cNvPr id="35" name="Text 24"/>
          <p:cNvSpPr/>
          <p:nvPr/>
        </p:nvSpPr>
        <p:spPr>
          <a:xfrm>
            <a:off x="8321040" y="4709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5AD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462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C19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Keva</a:t>
            </a:r>
            <a:pPr indent="0" marL="0">
              <a:buNone/>
            </a:pPr>
            <a:r>
              <a:rPr lang="en-US" sz="1000" spc="200" kern="0" dirty="0">
                <a:solidFill>
                  <a:srgbClr val="D462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9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Server Score &amp; Host Stand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3154680"/>
          </a:xfrm>
          <a:prstGeom prst="rect">
            <a:avLst/>
          </a:prstGeom>
          <a:solidFill>
            <a:srgbClr val="FFFEFB"/>
          </a:solidFill>
          <a:ln w="6350">
            <a:solidFill>
              <a:srgbClr val="E8E2DA"/>
            </a:solidFill>
            <a:prstDash val="solid"/>
          </a:ln>
          <a:effectLst>
            <a:outerShdw sx="100000" sy="100000" kx="0" ky="0" algn="bl" rotWithShape="0" blurRad="50800" dist="12700" dir="8100000">
              <a:srgbClr val="1C1917">
                <a:alpha val="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54480"/>
            <a:ext cx="228600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5361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62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SERVER SCORE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0080" y="18745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E6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0–100 composite from real data — not manager opinion.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40080" y="22402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7E6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PERFORMANCE INPUTS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40080" y="25146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0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▸ Revenue per cover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40080" y="277063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0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▸ Tip % vs. team average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40080" y="3026664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0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▸ Turn time vs. team average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40080" y="3282696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0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▸ Comp rate and frequency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40080" y="353872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0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▸ Guest review sentiment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40080" y="37947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0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▸ Manager attestation notes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40080" y="405079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0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▸ Shift-to-shift consistency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40080" y="434340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B5ADA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Weights tuned per venue from live data. Model improves with each service.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4754880" y="1417320"/>
            <a:ext cx="3931920" cy="3291840"/>
          </a:xfrm>
          <a:prstGeom prst="rect">
            <a:avLst/>
          </a:prstGeom>
          <a:solidFill>
            <a:srgbClr val="FFFEFB"/>
          </a:solidFill>
          <a:ln w="6350">
            <a:solidFill>
              <a:srgbClr val="E8E2DA"/>
            </a:solidFill>
            <a:prstDash val="solid"/>
          </a:ln>
          <a:effectLst>
            <a:outerShdw sx="100000" sy="100000" kx="0" ky="0" algn="bl" rotWithShape="0" blurRad="50800" dist="12700" dir="8100000">
              <a:srgbClr val="1C1917">
                <a:alpha val="6000"/>
              </a:srgbClr>
            </a:outerShdw>
          </a:effectLst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554480"/>
            <a:ext cx="228600" cy="22860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257800" y="15361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62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HOST STAND PLATFORM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4937760" y="18745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E6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only screen at the front door. Prime real estate.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4937760" y="228600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9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Floor State Machine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4937760" y="248716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7E6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Real-time table status from POS + camera. Available, seated, check dropped, bussing — tracked automatically.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4937760" y="280720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9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Waitlist Management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4937760" y="300837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7E6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Full waitlist with wait time estimation, SMS notifications, and seating preference tracking.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4937760" y="332841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9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Rez-Yield Integration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4937760" y="352958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7E6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Seat candidate scoring with operational + predictive adjustments. Accept/deny/offer alternate.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4937760" y="384962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9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Walk-in Capture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4937760" y="405079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7E6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Every walk-in tracked. Party size, preferences, wait time. Feeds demand forecasting.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8321040" y="4709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5AD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462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C19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Keva</a:t>
            </a:r>
            <a:pPr indent="0" marL="0">
              <a:buNone/>
            </a:pPr>
            <a:r>
              <a:rPr lang="en-US" sz="1000" spc="200" kern="0" dirty="0">
                <a:solidFill>
                  <a:srgbClr val="D462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9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Signal Loop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7E6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Every module feeds the next. The loop tightens with every service.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508760"/>
            <a:ext cx="1965960" cy="1234440"/>
          </a:xfrm>
          <a:prstGeom prst="rect">
            <a:avLst/>
          </a:prstGeom>
          <a:solidFill>
            <a:srgbClr val="FFFEFB"/>
          </a:solidFill>
          <a:ln w="6350">
            <a:solidFill>
              <a:srgbClr val="E8E2DA"/>
            </a:solidFill>
            <a:prstDash val="solid"/>
          </a:ln>
          <a:effectLst>
            <a:outerShdw sx="100000" sy="100000" kx="0" ky="0" algn="bl" rotWithShape="0" blurRad="50800" dist="12700" dir="8100000">
              <a:srgbClr val="1C1917">
                <a:alpha val="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" y="1618488"/>
            <a:ext cx="201168" cy="2011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874520" y="1581912"/>
            <a:ext cx="274320" cy="274320"/>
          </a:xfrm>
          <a:prstGeom prst="ellipse">
            <a:avLst/>
          </a:prstGeom>
          <a:solidFill>
            <a:srgbClr val="D4622B"/>
          </a:solidFill>
          <a:ln/>
        </p:spPr>
      </p:sp>
      <p:sp>
        <p:nvSpPr>
          <p:cNvPr id="9" name="Text 6"/>
          <p:cNvSpPr/>
          <p:nvPr/>
        </p:nvSpPr>
        <p:spPr>
          <a:xfrm>
            <a:off x="1874520" y="15819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EF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29768" y="18928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Reservations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29768" y="21945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7E6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Demand signal from all channels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514600" y="1508760"/>
            <a:ext cx="1965960" cy="1234440"/>
          </a:xfrm>
          <a:prstGeom prst="rect">
            <a:avLst/>
          </a:prstGeom>
          <a:solidFill>
            <a:srgbClr val="FFFEFB"/>
          </a:solidFill>
          <a:ln w="6350">
            <a:solidFill>
              <a:srgbClr val="E8E2DA"/>
            </a:solidFill>
            <a:prstDash val="solid"/>
          </a:ln>
          <a:effectLst>
            <a:outerShdw sx="100000" sy="100000" kx="0" ky="0" algn="bl" rotWithShape="0" blurRad="50800" dist="12700" dir="8100000">
              <a:srgbClr val="1C1917">
                <a:alpha val="6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4328" y="1618488"/>
            <a:ext cx="201168" cy="20116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069080" y="1581912"/>
            <a:ext cx="274320" cy="274320"/>
          </a:xfrm>
          <a:prstGeom prst="ellipse">
            <a:avLst/>
          </a:prstGeom>
          <a:solidFill>
            <a:srgbClr val="D4622B"/>
          </a:solidFill>
          <a:ln/>
        </p:spPr>
      </p:sp>
      <p:sp>
        <p:nvSpPr>
          <p:cNvPr id="15" name="Text 11"/>
          <p:cNvSpPr/>
          <p:nvPr/>
        </p:nvSpPr>
        <p:spPr>
          <a:xfrm>
            <a:off x="4069080" y="15819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EF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2624328" y="18928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Demand Forecast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2624328" y="21945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7E6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Covers, revenue, ingredient needs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4709160" y="1508760"/>
            <a:ext cx="1965960" cy="1234440"/>
          </a:xfrm>
          <a:prstGeom prst="rect">
            <a:avLst/>
          </a:prstGeom>
          <a:solidFill>
            <a:srgbClr val="FFFEFB"/>
          </a:solidFill>
          <a:ln w="6350">
            <a:solidFill>
              <a:srgbClr val="E8E2DA"/>
            </a:solidFill>
            <a:prstDash val="solid"/>
          </a:ln>
          <a:effectLst>
            <a:outerShdw sx="100000" sy="100000" kx="0" ky="0" algn="bl" rotWithShape="0" blurRad="50800" dist="12700" dir="8100000">
              <a:srgbClr val="1C1917">
                <a:alpha val="6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888" y="1618488"/>
            <a:ext cx="201168" cy="201168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6263640" y="1581912"/>
            <a:ext cx="274320" cy="274320"/>
          </a:xfrm>
          <a:prstGeom prst="ellipse">
            <a:avLst/>
          </a:prstGeom>
          <a:solidFill>
            <a:srgbClr val="D4622B"/>
          </a:solidFill>
          <a:ln/>
        </p:spPr>
      </p:sp>
      <p:sp>
        <p:nvSpPr>
          <p:cNvPr id="21" name="Text 16"/>
          <p:cNvSpPr/>
          <p:nvPr/>
        </p:nvSpPr>
        <p:spPr>
          <a:xfrm>
            <a:off x="6263640" y="15819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EF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4818888" y="18928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Labor Scheduling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4818888" y="21945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7E6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Staff-to-demand matching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6903720" y="1508760"/>
            <a:ext cx="1965960" cy="1234440"/>
          </a:xfrm>
          <a:prstGeom prst="rect">
            <a:avLst/>
          </a:prstGeom>
          <a:solidFill>
            <a:srgbClr val="FFFEFB"/>
          </a:solidFill>
          <a:ln w="6350">
            <a:solidFill>
              <a:srgbClr val="E8E2DA"/>
            </a:solidFill>
            <a:prstDash val="solid"/>
          </a:ln>
          <a:effectLst>
            <a:outerShdw sx="100000" sy="100000" kx="0" ky="0" algn="bl" rotWithShape="0" blurRad="50800" dist="12700" dir="8100000">
              <a:srgbClr val="1C1917">
                <a:alpha val="6000"/>
              </a:srgbClr>
            </a:outerShdw>
          </a:effectLst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3448" y="1618488"/>
            <a:ext cx="201168" cy="201168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8458200" y="1581912"/>
            <a:ext cx="274320" cy="274320"/>
          </a:xfrm>
          <a:prstGeom prst="ellipse">
            <a:avLst/>
          </a:prstGeom>
          <a:solidFill>
            <a:srgbClr val="D4622B"/>
          </a:solidFill>
          <a:ln/>
        </p:spPr>
      </p:sp>
      <p:sp>
        <p:nvSpPr>
          <p:cNvPr id="27" name="Text 21"/>
          <p:cNvSpPr/>
          <p:nvPr/>
        </p:nvSpPr>
        <p:spPr>
          <a:xfrm>
            <a:off x="8458200" y="15819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EF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7013448" y="18928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Procurement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7013448" y="21945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7E6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Auto-PO from forecast + recipes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320040" y="3063240"/>
            <a:ext cx="1965960" cy="1234440"/>
          </a:xfrm>
          <a:prstGeom prst="rect">
            <a:avLst/>
          </a:prstGeom>
          <a:solidFill>
            <a:srgbClr val="FFFEFB"/>
          </a:solidFill>
          <a:ln w="6350">
            <a:solidFill>
              <a:srgbClr val="E8E2DA"/>
            </a:solidFill>
            <a:prstDash val="solid"/>
          </a:ln>
          <a:effectLst>
            <a:outerShdw sx="100000" sy="100000" kx="0" ky="0" algn="bl" rotWithShape="0" blurRad="50800" dist="12700" dir="8100000">
              <a:srgbClr val="1C1917">
                <a:alpha val="6000"/>
              </a:srgbClr>
            </a:outerShdw>
          </a:effectLst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" y="3172968"/>
            <a:ext cx="201168" cy="201168"/>
          </a:xfrm>
          <a:prstGeom prst="rect">
            <a:avLst/>
          </a:prstGeom>
        </p:spPr>
      </p:pic>
      <p:sp>
        <p:nvSpPr>
          <p:cNvPr id="32" name="Shape 25"/>
          <p:cNvSpPr/>
          <p:nvPr/>
        </p:nvSpPr>
        <p:spPr>
          <a:xfrm>
            <a:off x="1874520" y="3136392"/>
            <a:ext cx="274320" cy="274320"/>
          </a:xfrm>
          <a:prstGeom prst="ellipse">
            <a:avLst/>
          </a:prstGeom>
          <a:solidFill>
            <a:srgbClr val="D4622B"/>
          </a:solidFill>
          <a:ln/>
        </p:spPr>
      </p:sp>
      <p:sp>
        <p:nvSpPr>
          <p:cNvPr id="33" name="Text 26"/>
          <p:cNvSpPr/>
          <p:nvPr/>
        </p:nvSpPr>
        <p:spPr>
          <a:xfrm>
            <a:off x="1874520" y="31363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EF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</a:t>
            </a:r>
            <a:endParaRPr lang="en-US" sz="1000" dirty="0"/>
          </a:p>
        </p:txBody>
      </p:sp>
      <p:sp>
        <p:nvSpPr>
          <p:cNvPr id="34" name="Text 27"/>
          <p:cNvSpPr/>
          <p:nvPr/>
        </p:nvSpPr>
        <p:spPr>
          <a:xfrm>
            <a:off x="429768" y="34472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Floor Plan</a:t>
            </a:r>
            <a:endParaRPr lang="en-US" sz="1200" dirty="0"/>
          </a:p>
        </p:txBody>
      </p:sp>
      <p:sp>
        <p:nvSpPr>
          <p:cNvPr id="35" name="Text 28"/>
          <p:cNvSpPr/>
          <p:nvPr/>
        </p:nvSpPr>
        <p:spPr>
          <a:xfrm>
            <a:off x="429768" y="37490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7E6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Section assignment, table state</a:t>
            </a:r>
            <a:endParaRPr lang="en-US" sz="900" dirty="0"/>
          </a:p>
        </p:txBody>
      </p:sp>
      <p:sp>
        <p:nvSpPr>
          <p:cNvPr id="36" name="Shape 29"/>
          <p:cNvSpPr/>
          <p:nvPr/>
        </p:nvSpPr>
        <p:spPr>
          <a:xfrm>
            <a:off x="2514600" y="3063240"/>
            <a:ext cx="1965960" cy="1234440"/>
          </a:xfrm>
          <a:prstGeom prst="rect">
            <a:avLst/>
          </a:prstGeom>
          <a:solidFill>
            <a:srgbClr val="FFFEFB"/>
          </a:solidFill>
          <a:ln w="6350">
            <a:solidFill>
              <a:srgbClr val="E8E2DA"/>
            </a:solidFill>
            <a:prstDash val="solid"/>
          </a:ln>
          <a:effectLst>
            <a:outerShdw sx="100000" sy="100000" kx="0" ky="0" algn="bl" rotWithShape="0" blurRad="50800" dist="12700" dir="8100000">
              <a:srgbClr val="1C1917">
                <a:alpha val="6000"/>
              </a:srgbClr>
            </a:outerShdw>
          </a:effectLst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24328" y="3172968"/>
            <a:ext cx="201168" cy="201168"/>
          </a:xfrm>
          <a:prstGeom prst="rect">
            <a:avLst/>
          </a:prstGeom>
        </p:spPr>
      </p:pic>
      <p:sp>
        <p:nvSpPr>
          <p:cNvPr id="38" name="Shape 30"/>
          <p:cNvSpPr/>
          <p:nvPr/>
        </p:nvSpPr>
        <p:spPr>
          <a:xfrm>
            <a:off x="4069080" y="3136392"/>
            <a:ext cx="274320" cy="274320"/>
          </a:xfrm>
          <a:prstGeom prst="ellipse">
            <a:avLst/>
          </a:prstGeom>
          <a:solidFill>
            <a:srgbClr val="D4622B"/>
          </a:solidFill>
          <a:ln/>
        </p:spPr>
      </p:sp>
      <p:sp>
        <p:nvSpPr>
          <p:cNvPr id="39" name="Text 31"/>
          <p:cNvSpPr/>
          <p:nvPr/>
        </p:nvSpPr>
        <p:spPr>
          <a:xfrm>
            <a:off x="4069080" y="31363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EF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6</a:t>
            </a:r>
            <a:endParaRPr lang="en-US" sz="1000" dirty="0"/>
          </a:p>
        </p:txBody>
      </p:sp>
      <p:sp>
        <p:nvSpPr>
          <p:cNvPr id="40" name="Text 32"/>
          <p:cNvSpPr/>
          <p:nvPr/>
        </p:nvSpPr>
        <p:spPr>
          <a:xfrm>
            <a:off x="2624328" y="34472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Server Mapping</a:t>
            </a:r>
            <a:endParaRPr lang="en-US" sz="1200" dirty="0"/>
          </a:p>
        </p:txBody>
      </p:sp>
      <p:sp>
        <p:nvSpPr>
          <p:cNvPr id="41" name="Text 33"/>
          <p:cNvSpPr/>
          <p:nvPr/>
        </p:nvSpPr>
        <p:spPr>
          <a:xfrm>
            <a:off x="2624328" y="37490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7E6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Score-based section placement</a:t>
            </a:r>
            <a:endParaRPr lang="en-US" sz="900" dirty="0"/>
          </a:p>
        </p:txBody>
      </p:sp>
      <p:sp>
        <p:nvSpPr>
          <p:cNvPr id="42" name="Shape 34"/>
          <p:cNvSpPr/>
          <p:nvPr/>
        </p:nvSpPr>
        <p:spPr>
          <a:xfrm>
            <a:off x="4709160" y="3063240"/>
            <a:ext cx="1965960" cy="1234440"/>
          </a:xfrm>
          <a:prstGeom prst="rect">
            <a:avLst/>
          </a:prstGeom>
          <a:solidFill>
            <a:srgbClr val="FFFEFB"/>
          </a:solidFill>
          <a:ln w="6350">
            <a:solidFill>
              <a:srgbClr val="E8E2DA"/>
            </a:solidFill>
            <a:prstDash val="solid"/>
          </a:ln>
          <a:effectLst>
            <a:outerShdw sx="100000" sy="100000" kx="0" ky="0" algn="bl" rotWithShape="0" blurRad="50800" dist="12700" dir="8100000">
              <a:srgbClr val="1C1917">
                <a:alpha val="6000"/>
              </a:srgbClr>
            </a:outerShdw>
          </a:effectLst>
        </p:spPr>
      </p:sp>
      <p:pic>
        <p:nvPicPr>
          <p:cNvPr id="4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8888" y="3172968"/>
            <a:ext cx="201168" cy="201168"/>
          </a:xfrm>
          <a:prstGeom prst="rect">
            <a:avLst/>
          </a:prstGeom>
        </p:spPr>
      </p:pic>
      <p:sp>
        <p:nvSpPr>
          <p:cNvPr id="44" name="Shape 35"/>
          <p:cNvSpPr/>
          <p:nvPr/>
        </p:nvSpPr>
        <p:spPr>
          <a:xfrm>
            <a:off x="6263640" y="3136392"/>
            <a:ext cx="274320" cy="274320"/>
          </a:xfrm>
          <a:prstGeom prst="ellipse">
            <a:avLst/>
          </a:prstGeom>
          <a:solidFill>
            <a:srgbClr val="D4622B"/>
          </a:solidFill>
          <a:ln/>
        </p:spPr>
      </p:sp>
      <p:sp>
        <p:nvSpPr>
          <p:cNvPr id="45" name="Text 36"/>
          <p:cNvSpPr/>
          <p:nvPr/>
        </p:nvSpPr>
        <p:spPr>
          <a:xfrm>
            <a:off x="6263640" y="31363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EF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7</a:t>
            </a:r>
            <a:endParaRPr lang="en-US" sz="1000" dirty="0"/>
          </a:p>
        </p:txBody>
      </p:sp>
      <p:sp>
        <p:nvSpPr>
          <p:cNvPr id="46" name="Text 37"/>
          <p:cNvSpPr/>
          <p:nvPr/>
        </p:nvSpPr>
        <p:spPr>
          <a:xfrm>
            <a:off x="4818888" y="34472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Service Execution</a:t>
            </a:r>
            <a:endParaRPr lang="en-US" sz="1200" dirty="0"/>
          </a:p>
        </p:txBody>
      </p:sp>
      <p:sp>
        <p:nvSpPr>
          <p:cNvPr id="47" name="Text 38"/>
          <p:cNvSpPr/>
          <p:nvPr/>
        </p:nvSpPr>
        <p:spPr>
          <a:xfrm>
            <a:off x="4818888" y="37490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7E6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POS + camera ground truth</a:t>
            </a:r>
            <a:endParaRPr lang="en-US" sz="900" dirty="0"/>
          </a:p>
        </p:txBody>
      </p:sp>
      <p:sp>
        <p:nvSpPr>
          <p:cNvPr id="48" name="Shape 39"/>
          <p:cNvSpPr/>
          <p:nvPr/>
        </p:nvSpPr>
        <p:spPr>
          <a:xfrm>
            <a:off x="6903720" y="3063240"/>
            <a:ext cx="1965960" cy="1234440"/>
          </a:xfrm>
          <a:prstGeom prst="rect">
            <a:avLst/>
          </a:prstGeom>
          <a:solidFill>
            <a:srgbClr val="FFFEFB"/>
          </a:solidFill>
          <a:ln w="19050">
            <a:solidFill>
              <a:srgbClr val="D4622B"/>
            </a:solidFill>
            <a:prstDash val="solid"/>
          </a:ln>
          <a:effectLst>
            <a:outerShdw sx="100000" sy="100000" kx="0" ky="0" algn="bl" rotWithShape="0" blurRad="50800" dist="12700" dir="8100000">
              <a:srgbClr val="1C1917">
                <a:alpha val="6000"/>
              </a:srgbClr>
            </a:outerShdw>
          </a:effectLst>
        </p:spPr>
      </p:sp>
      <p:pic>
        <p:nvPicPr>
          <p:cNvPr id="4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13448" y="3172968"/>
            <a:ext cx="201168" cy="201168"/>
          </a:xfrm>
          <a:prstGeom prst="rect">
            <a:avLst/>
          </a:prstGeom>
        </p:spPr>
      </p:pic>
      <p:sp>
        <p:nvSpPr>
          <p:cNvPr id="50" name="Shape 40"/>
          <p:cNvSpPr/>
          <p:nvPr/>
        </p:nvSpPr>
        <p:spPr>
          <a:xfrm>
            <a:off x="8458200" y="3136392"/>
            <a:ext cx="274320" cy="274320"/>
          </a:xfrm>
          <a:prstGeom prst="ellipse">
            <a:avLst/>
          </a:prstGeom>
          <a:solidFill>
            <a:srgbClr val="D4622B"/>
          </a:solidFill>
          <a:ln/>
        </p:spPr>
      </p:sp>
      <p:sp>
        <p:nvSpPr>
          <p:cNvPr id="51" name="Text 41"/>
          <p:cNvSpPr/>
          <p:nvPr/>
        </p:nvSpPr>
        <p:spPr>
          <a:xfrm>
            <a:off x="8458200" y="31363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EF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8</a:t>
            </a:r>
            <a:endParaRPr lang="en-US" sz="1000" dirty="0"/>
          </a:p>
        </p:txBody>
      </p:sp>
      <p:sp>
        <p:nvSpPr>
          <p:cNvPr id="52" name="Text 42"/>
          <p:cNvSpPr/>
          <p:nvPr/>
        </p:nvSpPr>
        <p:spPr>
          <a:xfrm>
            <a:off x="7013448" y="34472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Nightly Close</a:t>
            </a:r>
            <a:endParaRPr lang="en-US" sz="1200" dirty="0"/>
          </a:p>
        </p:txBody>
      </p:sp>
      <p:sp>
        <p:nvSpPr>
          <p:cNvPr id="53" name="Text 43"/>
          <p:cNvSpPr/>
          <p:nvPr/>
        </p:nvSpPr>
        <p:spPr>
          <a:xfrm>
            <a:off x="7013448" y="37490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7E6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Attestation, violations, scores</a:t>
            </a:r>
            <a:endParaRPr lang="en-US" sz="900" dirty="0"/>
          </a:p>
        </p:txBody>
      </p:sp>
      <p:pic>
        <p:nvPicPr>
          <p:cNvPr id="5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48840" y="2011680"/>
            <a:ext cx="182880" cy="182880"/>
          </a:xfrm>
          <a:prstGeom prst="rect">
            <a:avLst/>
          </a:prstGeom>
        </p:spPr>
      </p:pic>
      <p:pic>
        <p:nvPicPr>
          <p:cNvPr id="5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43400" y="2011680"/>
            <a:ext cx="182880" cy="182880"/>
          </a:xfrm>
          <a:prstGeom prst="rect">
            <a:avLst/>
          </a:prstGeom>
        </p:spPr>
      </p:pic>
      <p:pic>
        <p:nvPicPr>
          <p:cNvPr id="5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37960" y="2011680"/>
            <a:ext cx="182880" cy="182880"/>
          </a:xfrm>
          <a:prstGeom prst="rect">
            <a:avLst/>
          </a:prstGeom>
        </p:spPr>
      </p:pic>
      <p:sp>
        <p:nvSpPr>
          <p:cNvPr id="57" name="Text 44"/>
          <p:cNvSpPr/>
          <p:nvPr/>
        </p:nvSpPr>
        <p:spPr>
          <a:xfrm>
            <a:off x="7818120" y="26974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462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↓</a:t>
            </a:r>
            <a:endParaRPr lang="en-US" sz="1800" dirty="0"/>
          </a:p>
        </p:txBody>
      </p:sp>
      <p:sp>
        <p:nvSpPr>
          <p:cNvPr id="58" name="Text 45"/>
          <p:cNvSpPr/>
          <p:nvPr/>
        </p:nvSpPr>
        <p:spPr>
          <a:xfrm>
            <a:off x="6537960" y="3566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462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←</a:t>
            </a:r>
            <a:endParaRPr lang="en-US" sz="1600" dirty="0"/>
          </a:p>
        </p:txBody>
      </p:sp>
      <p:sp>
        <p:nvSpPr>
          <p:cNvPr id="59" name="Text 46"/>
          <p:cNvSpPr/>
          <p:nvPr/>
        </p:nvSpPr>
        <p:spPr>
          <a:xfrm>
            <a:off x="4343400" y="3566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462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←</a:t>
            </a:r>
            <a:endParaRPr lang="en-US" sz="1600" dirty="0"/>
          </a:p>
        </p:txBody>
      </p:sp>
      <p:sp>
        <p:nvSpPr>
          <p:cNvPr id="60" name="Text 47"/>
          <p:cNvSpPr/>
          <p:nvPr/>
        </p:nvSpPr>
        <p:spPr>
          <a:xfrm>
            <a:off x="2148840" y="3566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462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←</a:t>
            </a:r>
            <a:endParaRPr lang="en-US" sz="1600" dirty="0"/>
          </a:p>
        </p:txBody>
      </p:sp>
      <p:sp>
        <p:nvSpPr>
          <p:cNvPr id="61" name="Text 48"/>
          <p:cNvSpPr/>
          <p:nvPr/>
        </p:nvSpPr>
        <p:spPr>
          <a:xfrm>
            <a:off x="502920" y="26974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462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↑</a:t>
            </a:r>
            <a:endParaRPr lang="en-US" sz="1800" dirty="0"/>
          </a:p>
        </p:txBody>
      </p:sp>
      <p:sp>
        <p:nvSpPr>
          <p:cNvPr id="62" name="Text 49"/>
          <p:cNvSpPr/>
          <p:nvPr/>
        </p:nvSpPr>
        <p:spPr>
          <a:xfrm>
            <a:off x="640080" y="46177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7E6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Pre-shift briefs are generated from real signals — not yesterday's guesses. The loop gets tighter every night.</a:t>
            </a:r>
            <a:endParaRPr lang="en-US" sz="1100" dirty="0"/>
          </a:p>
        </p:txBody>
      </p:sp>
      <p:sp>
        <p:nvSpPr>
          <p:cNvPr id="63" name="Text 50"/>
          <p:cNvSpPr/>
          <p:nvPr/>
        </p:nvSpPr>
        <p:spPr>
          <a:xfrm>
            <a:off x="8321040" y="4709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5AD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462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C19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Keva</a:t>
            </a:r>
            <a:pPr indent="0" marL="0">
              <a:buNone/>
            </a:pPr>
            <a:r>
              <a:rPr lang="en-US" sz="1000" spc="200" kern="0" dirty="0">
                <a:solidFill>
                  <a:srgbClr val="D462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9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Competitive Landscape</a:t>
            </a:r>
            <a:endParaRPr lang="en-US" sz="3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234440"/>
          <a:ext cx="85953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914400"/>
                <a:gridCol w="914400"/>
                <a:gridCol w="914400"/>
                <a:gridCol w="914400"/>
                <a:gridCol w="914400"/>
                <a:gridCol w="109728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8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7E6F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Toast</a:t>
                      </a:r>
                      <a:endParaRPr lang="en-US" sz="8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7E6F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Nory</a:t>
                      </a:r>
                      <a:endParaRPr lang="en-US" sz="8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7E6F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($63M)</a:t>
                      </a:r>
                      <a:endParaRPr lang="en-US" sz="8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7E6F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R365</a:t>
                      </a:r>
                      <a:endParaRPr lang="en-US" sz="8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7E6F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7shifts</a:t>
                      </a:r>
                      <a:endParaRPr lang="en-US" sz="8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7E6F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BarVision</a:t>
                      </a:r>
                      <a:endParaRPr lang="en-US" sz="8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C1917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KevaOS</a:t>
                      </a:r>
                      <a:endParaRPr lang="en-US" sz="8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D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92524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Enforcement (not advisory)</a:t>
                      </a:r>
                      <a:endParaRPr lang="en-US" sz="8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B5ADA1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—</a:t>
                      </a:r>
                      <a:endParaRPr lang="en-US" sz="9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B5ADA1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—</a:t>
                      </a:r>
                      <a:endParaRPr lang="en-US" sz="9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B5ADA1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—</a:t>
                      </a:r>
                      <a:endParaRPr lang="en-US" sz="9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B5ADA1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—</a:t>
                      </a:r>
                      <a:endParaRPr lang="en-US" sz="9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B5ADA1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—</a:t>
                      </a:r>
                      <a:endParaRPr lang="en-US" sz="9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4622B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✓</a:t>
                      </a:r>
                      <a:endParaRPr lang="en-US" sz="9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92524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AI comp review</a:t>
                      </a:r>
                      <a:endParaRPr lang="en-US" sz="8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B5ADA1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—</a:t>
                      </a:r>
                      <a:endParaRPr lang="en-US" sz="9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B5ADA1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—</a:t>
                      </a:r>
                      <a:endParaRPr lang="en-US" sz="9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B5ADA1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—</a:t>
                      </a:r>
                      <a:endParaRPr lang="en-US" sz="9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B5ADA1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—</a:t>
                      </a:r>
                      <a:endParaRPr lang="en-US" sz="9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B5ADA1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—</a:t>
                      </a:r>
                      <a:endParaRPr lang="en-US" sz="9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4622B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✓</a:t>
                      </a:r>
                      <a:endParaRPr lang="en-US" sz="9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92524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Camera-based ground truth</a:t>
                      </a:r>
                      <a:endParaRPr lang="en-US" sz="8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B5ADA1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—</a:t>
                      </a:r>
                      <a:endParaRPr lang="en-US" sz="9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B5ADA1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—</a:t>
                      </a:r>
                      <a:endParaRPr lang="en-US" sz="9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B5ADA1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—</a:t>
                      </a:r>
                      <a:endParaRPr lang="en-US" sz="9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B5ADA1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—</a:t>
                      </a:r>
                      <a:endParaRPr lang="en-US" sz="9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B5ADA1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—</a:t>
                      </a:r>
                      <a:endParaRPr lang="en-US" sz="9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4622B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✓</a:t>
                      </a:r>
                      <a:endParaRPr lang="en-US" sz="9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92524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Rez yield optimization</a:t>
                      </a:r>
                      <a:endParaRPr lang="en-US" sz="8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B5ADA1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—</a:t>
                      </a:r>
                      <a:endParaRPr lang="en-US" sz="9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B5ADA1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—</a:t>
                      </a:r>
                      <a:endParaRPr lang="en-US" sz="9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B5ADA1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—</a:t>
                      </a:r>
                      <a:endParaRPr lang="en-US" sz="9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B5ADA1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—</a:t>
                      </a:r>
                      <a:endParaRPr lang="en-US" sz="9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B5ADA1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—</a:t>
                      </a:r>
                      <a:endParaRPr lang="en-US" sz="9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4622B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✓</a:t>
                      </a:r>
                      <a:endParaRPr lang="en-US" sz="9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92524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Server performance score</a:t>
                      </a:r>
                      <a:endParaRPr lang="en-US" sz="8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B5ADA1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—</a:t>
                      </a:r>
                      <a:endParaRPr lang="en-US" sz="9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B5ADA1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—</a:t>
                      </a:r>
                      <a:endParaRPr lang="en-US" sz="9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B5ADA1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—</a:t>
                      </a:r>
                      <a:endParaRPr lang="en-US" sz="9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B5ADA1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—</a:t>
                      </a:r>
                      <a:endParaRPr lang="en-US" sz="9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B5ADA1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—</a:t>
                      </a:r>
                      <a:endParaRPr lang="en-US" sz="9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4622B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✓</a:t>
                      </a:r>
                      <a:endParaRPr lang="en-US" sz="9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92524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Integrated supply chain</a:t>
                      </a:r>
                      <a:endParaRPr lang="en-US" sz="8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B5ADA1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—</a:t>
                      </a:r>
                      <a:endParaRPr lang="en-US" sz="9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B5ADA1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—</a:t>
                      </a:r>
                      <a:endParaRPr lang="en-US" sz="9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B5ADA1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—</a:t>
                      </a:r>
                      <a:endParaRPr lang="en-US" sz="9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B5ADA1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—</a:t>
                      </a:r>
                      <a:endParaRPr lang="en-US" sz="9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B5ADA1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—</a:t>
                      </a:r>
                      <a:endParaRPr lang="en-US" sz="9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4622B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✓</a:t>
                      </a:r>
                      <a:endParaRPr lang="en-US" sz="9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92524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Labor schedule enforcement</a:t>
                      </a:r>
                      <a:endParaRPr lang="en-US" sz="8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B5ADA1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—</a:t>
                      </a:r>
                      <a:endParaRPr lang="en-US" sz="9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B7E6F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Suggest</a:t>
                      </a:r>
                      <a:endParaRPr lang="en-US" sz="9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B5ADA1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—</a:t>
                      </a:r>
                      <a:endParaRPr lang="en-US" sz="9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B7E6F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Suggest</a:t>
                      </a:r>
                      <a:endParaRPr lang="en-US" sz="9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B5ADA1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—</a:t>
                      </a:r>
                      <a:endParaRPr lang="en-US" sz="9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4622B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Block</a:t>
                      </a:r>
                      <a:endParaRPr lang="en-US" sz="9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92524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Procurement automation</a:t>
                      </a:r>
                      <a:endParaRPr lang="en-US" sz="8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B5ADA1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—</a:t>
                      </a:r>
                      <a:endParaRPr lang="en-US" sz="9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B5ADA1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—</a:t>
                      </a:r>
                      <a:endParaRPr lang="en-US" sz="9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B7E6F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Partial</a:t>
                      </a:r>
                      <a:endParaRPr lang="en-US" sz="9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B5ADA1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—</a:t>
                      </a:r>
                      <a:endParaRPr lang="en-US" sz="9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B5ADA1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—</a:t>
                      </a:r>
                      <a:endParaRPr lang="en-US" sz="9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4622B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✓</a:t>
                      </a:r>
                      <a:endParaRPr lang="en-US" sz="9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92524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Nightly attestation</a:t>
                      </a:r>
                      <a:endParaRPr lang="en-US" sz="8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B5ADA1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—</a:t>
                      </a:r>
                      <a:endParaRPr lang="en-US" sz="9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B5ADA1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—</a:t>
                      </a:r>
                      <a:endParaRPr lang="en-US" sz="9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B5ADA1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—</a:t>
                      </a:r>
                      <a:endParaRPr lang="en-US" sz="9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B5ADA1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—</a:t>
                      </a:r>
                      <a:endParaRPr lang="en-US" sz="9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B5ADA1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—</a:t>
                      </a:r>
                      <a:endParaRPr lang="en-US" sz="9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4622B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✓</a:t>
                      </a:r>
                      <a:endParaRPr lang="en-US" sz="9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92524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Multi-venue benchmarking</a:t>
                      </a:r>
                      <a:endParaRPr lang="en-US" sz="8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B7E6F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Basic</a:t>
                      </a:r>
                      <a:endParaRPr lang="en-US" sz="9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B7E6F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Partial</a:t>
                      </a:r>
                      <a:endParaRPr lang="en-US" sz="9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B7E6F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Basic</a:t>
                      </a:r>
                      <a:endParaRPr lang="en-US" sz="9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B5ADA1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—</a:t>
                      </a:r>
                      <a:endParaRPr lang="en-US" sz="9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B5ADA1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—</a:t>
                      </a:r>
                      <a:endParaRPr lang="en-US" sz="9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4622B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✓</a:t>
                      </a:r>
                      <a:endParaRPr lang="en-US" sz="9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440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Nory is a dashboard with $63M. R365 is accounting with AI features. KevaOS is an enforcement engine with integrated fulfillment.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321040" y="4709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5AD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462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C19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Keva</a:t>
            </a:r>
            <a:pPr indent="0" marL="0">
              <a:buNone/>
            </a:pPr>
            <a:r>
              <a:rPr lang="en-US" sz="1000" spc="200" kern="0" dirty="0">
                <a:solidFill>
                  <a:srgbClr val="D462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9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Results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VALIDATED IN PRODUCTION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3931920" cy="1097280"/>
          </a:xfrm>
          <a:prstGeom prst="rect">
            <a:avLst/>
          </a:prstGeom>
          <a:solidFill>
            <a:srgbClr val="FFFEFB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50800" dist="12700" dir="8100000">
              <a:srgbClr val="1C1917">
                <a:alpha val="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554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462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$625K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9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Labor savings per venue / year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2402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7E6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Staggered scheduling eliminates the pre-service pile-up. Measured across multiple high-volume venues.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3440" y="1508760"/>
            <a:ext cx="3931920" cy="1097280"/>
          </a:xfrm>
          <a:prstGeom prst="rect">
            <a:avLst/>
          </a:prstGeom>
          <a:solidFill>
            <a:srgbClr val="FFFEFB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50800" dist="12700" dir="8100000">
              <a:srgbClr val="1C1917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1554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462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$2M+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846320" y="201168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9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Total annual savings identified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22402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7E6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Labor staggering, comp enforcement, CC processing, software consolidation across portfolio.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28346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7E6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MODELED FROM LIVE DATA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3108960"/>
            <a:ext cx="3931920" cy="1097280"/>
          </a:xfrm>
          <a:prstGeom prst="rect">
            <a:avLst/>
          </a:prstGeom>
          <a:solidFill>
            <a:srgbClr val="FFFEFB"/>
          </a:solidFill>
          <a:ln w="6350">
            <a:solidFill>
              <a:srgbClr val="E8E2DA"/>
            </a:solidFill>
            <a:prstDash val="solid"/>
          </a:ln>
          <a:effectLst>
            <a:outerShdw sx="100000" sy="100000" kx="0" ky="0" algn="bl" rotWithShape="0" blurRad="50800" dist="12700" dir="8100000">
              <a:srgbClr val="1C1917">
                <a:alpha val="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" y="31546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462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15–30%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40080" y="361188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9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Missed revenue per seat-hour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38404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7E6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Suboptimal seating decisions, undertimed turns, and unpriced walk-in demand leave money on the table.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63440" y="3108960"/>
            <a:ext cx="3931920" cy="1097280"/>
          </a:xfrm>
          <a:prstGeom prst="rect">
            <a:avLst/>
          </a:prstGeom>
          <a:solidFill>
            <a:srgbClr val="FFFEFB"/>
          </a:solidFill>
          <a:ln w="6350">
            <a:solidFill>
              <a:srgbClr val="E8E2DA"/>
            </a:solidFill>
            <a:prstDash val="solid"/>
          </a:ln>
          <a:effectLst>
            <a:outerShdw sx="100000" sy="100000" kx="0" ky="0" algn="bl" rotWithShape="0" blurRad="50800" dist="12700" dir="8100000">
              <a:srgbClr val="1C1917">
                <a:alpha val="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46320" y="31546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462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8–15%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4846320" y="361188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9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Procurement savings potential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6320" y="38404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7E6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Anomaly detection, vendor consolidation, and auto-routing through preferred supply chain.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0080" y="46177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7E6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Green border = validated in production. Gray border = modeled from live venue data, pending full deployment.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321040" y="4709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5AD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462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C19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Keva</a:t>
            </a:r>
            <a:pPr indent="0" marL="0">
              <a:buNone/>
            </a:pPr>
            <a:r>
              <a:rPr lang="en-US" sz="1000" spc="200" kern="0" dirty="0">
                <a:solidFill>
                  <a:srgbClr val="D462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9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Moat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7E6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Software + supply chain + ground truth. Nobody else owns all three.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2697480" cy="3154680"/>
          </a:xfrm>
          <a:prstGeom prst="rect">
            <a:avLst/>
          </a:prstGeom>
          <a:solidFill>
            <a:srgbClr val="FFFEFB"/>
          </a:solidFill>
          <a:ln w="6350">
            <a:solidFill>
              <a:srgbClr val="E8E2DA"/>
            </a:solidFill>
            <a:prstDash val="solid"/>
          </a:ln>
          <a:effectLst>
            <a:outerShdw sx="100000" sy="100000" kx="0" ky="0" algn="bl" rotWithShape="0" blurRad="50800" dist="12700" dir="8100000">
              <a:srgbClr val="1C1917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508760"/>
            <a:ext cx="2697480" cy="27432"/>
          </a:xfrm>
          <a:prstGeom prst="rect">
            <a:avLst/>
          </a:prstGeom>
          <a:solidFill>
            <a:srgbClr val="D4622B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62763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462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SOFTWARE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87452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0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KevaOS Enforcement Engine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2194560"/>
            <a:ext cx="1828800" cy="0"/>
          </a:xfrm>
          <a:prstGeom prst="line">
            <a:avLst/>
          </a:prstGeom>
          <a:noFill/>
          <a:ln w="12700">
            <a:solidFill>
              <a:srgbClr val="E8E2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2860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E6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▸ Labor rails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26060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E6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▸ Comp enforcement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29260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E6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▸ Procurement agent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32461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E6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▸ Rez-yield optimization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35661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E6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▸ Nightly attestation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38862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E6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▸ Multi-venue benchmarks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46120" y="1508760"/>
            <a:ext cx="2697480" cy="3154680"/>
          </a:xfrm>
          <a:prstGeom prst="rect">
            <a:avLst/>
          </a:prstGeom>
          <a:solidFill>
            <a:srgbClr val="FFFEFB"/>
          </a:solidFill>
          <a:ln w="6350">
            <a:solidFill>
              <a:srgbClr val="E8E2DA"/>
            </a:solidFill>
            <a:prstDash val="solid"/>
          </a:ln>
          <a:effectLst>
            <a:outerShdw sx="100000" sy="100000" kx="0" ky="0" algn="bl" rotWithShape="0" blurRad="50800" dist="12700" dir="8100000">
              <a:srgbClr val="1C1917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46120" y="1508760"/>
            <a:ext cx="2697480" cy="27432"/>
          </a:xfrm>
          <a:prstGeom prst="rect">
            <a:avLst/>
          </a:prstGeom>
          <a:solidFill>
            <a:srgbClr val="5C6B4F"/>
          </a:solidFill>
          <a:ln/>
        </p:spPr>
      </p:sp>
      <p:sp>
        <p:nvSpPr>
          <p:cNvPr id="19" name="Text 17"/>
          <p:cNvSpPr/>
          <p:nvPr/>
        </p:nvSpPr>
        <p:spPr>
          <a:xfrm>
            <a:off x="3383280" y="162763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6B4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SUPPLY CHAIN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83280" y="187452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0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Binyan Group Entities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383280" y="2194560"/>
            <a:ext cx="1828800" cy="0"/>
          </a:xfrm>
          <a:prstGeom prst="line">
            <a:avLst/>
          </a:prstGeom>
          <a:noFill/>
          <a:ln w="12700">
            <a:solidFill>
              <a:srgbClr val="E8E2D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83280" y="22860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E6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▸ SHW (B2B distributor)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83280" y="26060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E6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▸ Shureprint (packaging)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83280" y="29260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E6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▸ E&amp;E Mercantile (FF&amp;E/sourcing)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83280" y="32461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E6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▸ GroundOps (facilities mgmt)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83280" y="35661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E6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▸ Procurement auto-routes here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383280" y="38862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E6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▸ Margin on every PO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26480" y="1508760"/>
            <a:ext cx="2697480" cy="3154680"/>
          </a:xfrm>
          <a:prstGeom prst="rect">
            <a:avLst/>
          </a:prstGeom>
          <a:solidFill>
            <a:srgbClr val="FFFEFB"/>
          </a:solidFill>
          <a:ln w="6350">
            <a:solidFill>
              <a:srgbClr val="E8E2DA"/>
            </a:solidFill>
            <a:prstDash val="solid"/>
          </a:ln>
          <a:effectLst>
            <a:outerShdw sx="100000" sy="100000" kx="0" ky="0" algn="bl" rotWithShape="0" blurRad="50800" dist="12700" dir="8100000">
              <a:srgbClr val="1C1917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26480" y="1508760"/>
            <a:ext cx="2697480" cy="27432"/>
          </a:xfrm>
          <a:prstGeom prst="rect">
            <a:avLst/>
          </a:prstGeom>
          <a:solidFill>
            <a:srgbClr val="7C2D12"/>
          </a:solidFill>
          <a:ln/>
        </p:spPr>
      </p:sp>
      <p:sp>
        <p:nvSpPr>
          <p:cNvPr id="30" name="Text 28"/>
          <p:cNvSpPr/>
          <p:nvPr/>
        </p:nvSpPr>
        <p:spPr>
          <a:xfrm>
            <a:off x="6263640" y="162763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2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GROUND TRUTH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63640" y="187452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0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Verification Layer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263640" y="2194560"/>
            <a:ext cx="1828800" cy="0"/>
          </a:xfrm>
          <a:prstGeom prst="line">
            <a:avLst/>
          </a:prstGeom>
          <a:noFill/>
          <a:ln w="12700">
            <a:solidFill>
              <a:srgbClr val="E8E2D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63640" y="22860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E6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▸ AI camera vision (UniFi)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63640" y="26060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E6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▸ Greeting time detection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263640" y="29260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E6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▸ POS real-time sync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263640" y="32461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E6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▸ 7shifts labor data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263640" y="35661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E6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▸ Keva Pin (UWB + audio)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263640" y="38862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E6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▸ Server score from real data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440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Replacing KevaOS means replacing your distributor, print vendor, facilities company, AND operating system. That's permanence.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321040" y="4709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5AD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462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C19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Keva</a:t>
            </a:r>
            <a:pPr indent="0" marL="0">
              <a:buNone/>
            </a:pPr>
            <a:r>
              <a:rPr lang="en-US" sz="1000" spc="200" kern="0" dirty="0">
                <a:solidFill>
                  <a:srgbClr val="D462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9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Revenue Model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502920"/>
          </a:xfrm>
          <a:prstGeom prst="rect">
            <a:avLst/>
          </a:prstGeom>
          <a:solidFill>
            <a:srgbClr val="FDF5EF"/>
          </a:solidFill>
          <a:ln w="6350">
            <a:solidFill>
              <a:srgbClr val="D462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258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62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Book</a:t>
            </a:r>
            <a:pPr indent="0" marL="0">
              <a:buNone/>
            </a:pPr>
            <a:r>
              <a:rPr lang="en-US" sz="1100" dirty="0">
                <a:solidFill>
                  <a:srgbClr val="B5ADA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 →  </a:t>
            </a:r>
            <a:pPr indent="0" marL="0">
              <a:buNone/>
            </a:pPr>
            <a:r>
              <a:rPr lang="en-US" sz="1100" b="1" dirty="0">
                <a:solidFill>
                  <a:srgbClr val="D462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Staff</a:t>
            </a:r>
            <a:pPr indent="0" marL="0">
              <a:buNone/>
            </a:pPr>
            <a:r>
              <a:rPr lang="en-US" sz="1100" dirty="0">
                <a:solidFill>
                  <a:srgbClr val="B5ADA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 →  </a:t>
            </a:r>
            <a:pPr indent="0" marL="0">
              <a:buNone/>
            </a:pPr>
            <a:r>
              <a:rPr lang="en-US" sz="1100" b="1" dirty="0">
                <a:solidFill>
                  <a:srgbClr val="D462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Serve</a:t>
            </a:r>
            <a:pPr indent="0" marL="0">
              <a:buNone/>
            </a:pPr>
            <a:r>
              <a:rPr lang="en-US" sz="1100" dirty="0">
                <a:solidFill>
                  <a:srgbClr val="B5ADA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 →  </a:t>
            </a:r>
            <a:pPr indent="0" marL="0">
              <a:buNone/>
            </a:pPr>
            <a:r>
              <a:rPr lang="en-US" sz="1100" b="1" dirty="0">
                <a:solidFill>
                  <a:srgbClr val="D462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Close</a:t>
            </a:r>
            <a:pPr indent="0" marL="0">
              <a:buNone/>
            </a:pPr>
            <a:r>
              <a:rPr lang="en-US" sz="1100" dirty="0">
                <a:solidFill>
                  <a:srgbClr val="B5ADA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 →  </a:t>
            </a:r>
            <a:pPr indent="0" marL="0">
              <a:buNone/>
            </a:pPr>
            <a:r>
              <a:rPr lang="en-US" sz="1100" b="1" dirty="0">
                <a:solidFill>
                  <a:srgbClr val="D462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Restock</a:t>
            </a:r>
            <a:pPr indent="0" marL="0">
              <a:buNone/>
            </a:pPr>
            <a:r>
              <a:rPr lang="en-US" sz="1000" dirty="0">
                <a:solidFill>
                  <a:srgbClr val="4440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   Revenue captured at every stage. No other platform manages the full lifecycle.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7E6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THREE REVENUE LAYERS PER VENUE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8229600" cy="658368"/>
          </a:xfrm>
          <a:prstGeom prst="rect">
            <a:avLst/>
          </a:prstGeom>
          <a:solidFill>
            <a:srgbClr val="FFFEFB"/>
          </a:solidFill>
          <a:ln w="6350">
            <a:solidFill>
              <a:srgbClr val="E8E2D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514600"/>
            <a:ext cx="347472" cy="347472"/>
          </a:xfrm>
          <a:prstGeom prst="ellipse">
            <a:avLst/>
          </a:prstGeom>
          <a:solidFill>
            <a:srgbClr val="D4622B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5146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EF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" y="243230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SaaS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43000" y="272491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E6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KevaOS platform fee per venue/month. Enforcement engine, attestation, scoring, dashboards.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0" y="2432304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462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$2–5K/mo per venue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154680"/>
            <a:ext cx="8229600" cy="658368"/>
          </a:xfrm>
          <a:prstGeom prst="rect">
            <a:avLst/>
          </a:prstGeom>
          <a:solidFill>
            <a:srgbClr val="FFFEFB"/>
          </a:solidFill>
          <a:ln w="6350">
            <a:solidFill>
              <a:srgbClr val="E8E2D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291840"/>
            <a:ext cx="347472" cy="347472"/>
          </a:xfrm>
          <a:prstGeom prst="ellipse">
            <a:avLst/>
          </a:prstGeom>
          <a:solidFill>
            <a:srgbClr val="D4622B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2918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EF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43000" y="320954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Procurement Margin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43000" y="350215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E6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Every PO routed through Binyan entities generates product margin. SHW, Shureprint, E&amp;E, GroundOps.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0" y="3209544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462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15–35% on flow-through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931920"/>
            <a:ext cx="8229600" cy="658368"/>
          </a:xfrm>
          <a:prstGeom prst="rect">
            <a:avLst/>
          </a:prstGeom>
          <a:solidFill>
            <a:srgbClr val="FFFEFB"/>
          </a:solidFill>
          <a:ln w="6350">
            <a:solidFill>
              <a:srgbClr val="E8E2D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4069080"/>
            <a:ext cx="347472" cy="347472"/>
          </a:xfrm>
          <a:prstGeom prst="ellipse">
            <a:avLst/>
          </a:prstGeom>
          <a:solidFill>
            <a:srgbClr val="D4622B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069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EF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43000" y="398678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Hardware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43000" y="427939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E6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Sensor mesh, cameras, scales, Keva Pins — sold or leased. Ongoing replacement and expansion.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0" y="3986784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462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$1–3K initial + ongoing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solidFill>
            <a:srgbClr val="FDF5EF"/>
          </a:solidFill>
          <a:ln w="6350">
            <a:solidFill>
              <a:srgbClr val="D462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4572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252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Nory gets one revenue event. KevaOS gets three. On every transaction. At every venue.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321040" y="4709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5AD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462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C19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Keva</a:t>
            </a:r>
            <a:pPr indent="0" marL="0">
              <a:buNone/>
            </a:pPr>
            <a:r>
              <a:rPr lang="en-US" sz="1000" spc="200" kern="0" dirty="0">
                <a:solidFill>
                  <a:srgbClr val="D462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9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Integration Layer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7E6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Plugs into what venues already run. No rip-and-replace.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7E6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POS SYSTEMS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3931920" cy="457200"/>
          </a:xfrm>
          <a:prstGeom prst="rect">
            <a:avLst/>
          </a:prstGeom>
          <a:solidFill>
            <a:srgbClr val="FFFEFB"/>
          </a:solidFill>
          <a:ln w="6350">
            <a:solidFill>
              <a:srgbClr val="E8E2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8288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9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Toast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920240" y="1938528"/>
            <a:ext cx="548640" cy="228600"/>
          </a:xfrm>
          <a:prstGeom prst="rect">
            <a:avLst/>
          </a:prstGeom>
          <a:solidFill>
            <a:srgbClr val="D4622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EF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Ready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560320" y="18288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7E6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Direct API. Intra-day summaries.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3931920" cy="457200"/>
          </a:xfrm>
          <a:prstGeom prst="rect">
            <a:avLst/>
          </a:prstGeom>
          <a:solidFill>
            <a:srgbClr val="FFFEFB"/>
          </a:solidFill>
          <a:ln w="6350">
            <a:solidFill>
              <a:srgbClr val="E8E2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3774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9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Oracle Simphony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920240" y="2487168"/>
            <a:ext cx="548640" cy="228600"/>
          </a:xfrm>
          <a:prstGeom prst="rect">
            <a:avLst/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EF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Live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560320" y="23774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7E6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Via TipSee + BI API.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3931920" cy="457200"/>
          </a:xfrm>
          <a:prstGeom prst="rect">
            <a:avLst/>
          </a:prstGeom>
          <a:solidFill>
            <a:srgbClr val="FFFEFB"/>
          </a:solidFill>
          <a:ln w="6350">
            <a:solidFill>
              <a:srgbClr val="E8E2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926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9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Upserve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920240" y="3035808"/>
            <a:ext cx="548640" cy="228600"/>
          </a:xfrm>
          <a:prstGeom prst="rect">
            <a:avLst/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EF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Live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560320" y="29260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7E6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Via TipSee. Real-time checks.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3474720"/>
            <a:ext cx="3931920" cy="457200"/>
          </a:xfrm>
          <a:prstGeom prst="rect">
            <a:avLst/>
          </a:prstGeom>
          <a:solidFill>
            <a:srgbClr val="FFFEFB"/>
          </a:solidFill>
          <a:ln w="6350">
            <a:solidFill>
              <a:srgbClr val="E8E2D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4747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9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Square / Lightspeed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920240" y="3584448"/>
            <a:ext cx="548640" cy="228600"/>
          </a:xfrm>
          <a:prstGeom prst="rect">
            <a:avLst/>
          </a:prstGeom>
          <a:solidFill>
            <a:srgbClr val="D4622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EF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Ready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560320" y="34747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7E6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Available for new venues.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63440" y="15087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7E6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OPERATIONS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1828800"/>
            <a:ext cx="3931920" cy="457200"/>
          </a:xfrm>
          <a:prstGeom prst="rect">
            <a:avLst/>
          </a:prstGeom>
          <a:solidFill>
            <a:srgbClr val="FFFEFB"/>
          </a:solidFill>
          <a:ln w="6350">
            <a:solidFill>
              <a:srgbClr val="E8E2D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18288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9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7shifts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126480" y="1938528"/>
            <a:ext cx="548640" cy="228600"/>
          </a:xfrm>
          <a:prstGeom prst="rect">
            <a:avLst/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EF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Live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766560" y="18288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7E6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Punches, wages via TipSee.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63440" y="2377440"/>
            <a:ext cx="3931920" cy="457200"/>
          </a:xfrm>
          <a:prstGeom prst="rect">
            <a:avLst/>
          </a:prstGeom>
          <a:solidFill>
            <a:srgbClr val="FFFEFB"/>
          </a:solidFill>
          <a:ln w="6350">
            <a:solidFill>
              <a:srgbClr val="E8E2D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23774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9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SevenRooms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126480" y="2487168"/>
            <a:ext cx="548640" cy="228600"/>
          </a:xfrm>
          <a:prstGeom prst="rect">
            <a:avLst/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EF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Live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766560" y="23774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7E6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Reservations + schedules.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2926080"/>
            <a:ext cx="3931920" cy="457200"/>
          </a:xfrm>
          <a:prstGeom prst="rect">
            <a:avLst/>
          </a:prstGeom>
          <a:solidFill>
            <a:srgbClr val="FFFEFB"/>
          </a:solidFill>
          <a:ln w="6350">
            <a:solidFill>
              <a:srgbClr val="E8E2D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2926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9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Restaurant365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126480" y="3035808"/>
            <a:ext cx="548640" cy="228600"/>
          </a:xfrm>
          <a:prstGeom prst="rect">
            <a:avLst/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EF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Live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766560" y="29260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7E6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GL accounts, COGS.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663440" y="3474720"/>
            <a:ext cx="3931920" cy="457200"/>
          </a:xfrm>
          <a:prstGeom prst="rect">
            <a:avLst/>
          </a:prstGeom>
          <a:solidFill>
            <a:srgbClr val="FFFEFB"/>
          </a:solidFill>
          <a:ln w="6350">
            <a:solidFill>
              <a:srgbClr val="E8E2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00600" y="34747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9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UniFi Protect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126480" y="3584448"/>
            <a:ext cx="548640" cy="228600"/>
          </a:xfrm>
          <a:prstGeom prst="rect">
            <a:avLst/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EF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Live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766560" y="34747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7E6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Camera → AI vision.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40080" y="46177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7E6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KevaOS wraps existing infrastructure. Venues keep their POS — we add the enforcement layer on top.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321040" y="4709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5AD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462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C19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Keva</a:t>
            </a:r>
            <a:pPr indent="0" marL="0">
              <a:buNone/>
            </a:pPr>
            <a:r>
              <a:rPr lang="en-US" sz="1000" spc="200" kern="0" dirty="0">
                <a:solidFill>
                  <a:srgbClr val="D462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9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Roadmap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2057400" cy="3246120"/>
          </a:xfrm>
          <a:prstGeom prst="rect">
            <a:avLst/>
          </a:prstGeom>
          <a:solidFill>
            <a:srgbClr val="FFFEFB"/>
          </a:solidFill>
          <a:ln w="19050">
            <a:solidFill>
              <a:srgbClr val="D4622B"/>
            </a:solidFill>
            <a:prstDash val="solid"/>
          </a:ln>
          <a:effectLst>
            <a:outerShdw sx="100000" sy="100000" kx="0" ky="0" algn="bl" rotWithShape="0" blurRad="50800" dist="12700" dir="8100000">
              <a:srgbClr val="1C1917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417320"/>
            <a:ext cx="2057400" cy="36576"/>
          </a:xfrm>
          <a:prstGeom prst="rect">
            <a:avLst/>
          </a:prstGeom>
          <a:solidFill>
            <a:srgbClr val="D4622B"/>
          </a:solidFill>
          <a:ln/>
        </p:spPr>
      </p:sp>
      <p:sp>
        <p:nvSpPr>
          <p:cNvPr id="7" name="Text 5"/>
          <p:cNvSpPr/>
          <p:nvPr/>
        </p:nvSpPr>
        <p:spPr>
          <a:xfrm>
            <a:off x="429768" y="15087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62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NOW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25880" y="152704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5ADA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Live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29768" y="1828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C19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Enforcement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C19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Engine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9768" y="2377440"/>
            <a:ext cx="1371600" cy="0"/>
          </a:xfrm>
          <a:prstGeom prst="line">
            <a:avLst/>
          </a:prstGeom>
          <a:noFill/>
          <a:ln w="12700">
            <a:solidFill>
              <a:srgbClr val="E8E2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" y="2468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E6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▸ Labor rails deployed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29768" y="28163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E6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▸ Comp enforcement live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29768" y="31638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E6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▸ Nightly attestation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29768" y="35112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E6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▸ Camera vision pipeline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29768" y="38587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E6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▸ Rez-yield agent (beta)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514600" y="1417320"/>
            <a:ext cx="2057400" cy="3246120"/>
          </a:xfrm>
          <a:prstGeom prst="rect">
            <a:avLst/>
          </a:prstGeom>
          <a:solidFill>
            <a:srgbClr val="FFFEFB"/>
          </a:solidFill>
          <a:ln w="6350">
            <a:solidFill>
              <a:srgbClr val="E8E2DA"/>
            </a:solidFill>
            <a:prstDash val="solid"/>
          </a:ln>
          <a:effectLst>
            <a:outerShdw sx="100000" sy="100000" kx="0" ky="0" algn="bl" rotWithShape="0" blurRad="50800" dist="12700" dir="8100000">
              <a:srgbClr val="1C1917">
                <a:alpha val="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624328" y="15087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252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520440" y="152704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5ADA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2026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624328" y="1828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C19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Hardware +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C19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Procurement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624328" y="2377440"/>
            <a:ext cx="1371600" cy="0"/>
          </a:xfrm>
          <a:prstGeom prst="line">
            <a:avLst/>
          </a:prstGeom>
          <a:noFill/>
          <a:ln w="12700">
            <a:solidFill>
              <a:srgbClr val="E8E2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24328" y="2468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E6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▸ Keva Pin V1 (UWB)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624328" y="28163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E6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▸ Radar mesh pilot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624328" y="31638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E6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▸ Plating scale pilots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624328" y="35112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E6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▸ Procurement agent live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1417320"/>
            <a:ext cx="2057400" cy="3246120"/>
          </a:xfrm>
          <a:prstGeom prst="rect">
            <a:avLst/>
          </a:prstGeom>
          <a:solidFill>
            <a:srgbClr val="FFFEFB"/>
          </a:solidFill>
          <a:ln w="6350">
            <a:solidFill>
              <a:srgbClr val="E8E2DA"/>
            </a:solidFill>
            <a:prstDash val="solid"/>
          </a:ln>
          <a:effectLst>
            <a:outerShdw sx="100000" sy="100000" kx="0" ky="0" algn="bl" rotWithShape="0" blurRad="50800" dist="12700" dir="8100000">
              <a:srgbClr val="1C1917">
                <a:alpha val="6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18888" y="15087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252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Q3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715000" y="152704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5ADA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2026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18888" y="1828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C19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Voice +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C19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Scoring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18888" y="2377440"/>
            <a:ext cx="1371600" cy="0"/>
          </a:xfrm>
          <a:prstGeom prst="line">
            <a:avLst/>
          </a:prstGeom>
          <a:noFill/>
          <a:ln w="12700">
            <a:solidFill>
              <a:srgbClr val="E8E2D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18888" y="2468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E6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▸ Keva Pin V2 (audio + POS)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18888" y="28163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E6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▸ Voice-to-POS pipeline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18888" y="31638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E6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▸ Server score network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18888" y="35112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E6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▸ Recipe auto-generation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903720" y="1417320"/>
            <a:ext cx="2057400" cy="3246120"/>
          </a:xfrm>
          <a:prstGeom prst="rect">
            <a:avLst/>
          </a:prstGeom>
          <a:solidFill>
            <a:srgbClr val="FDF5EF"/>
          </a:solidFill>
          <a:ln w="6350">
            <a:solidFill>
              <a:srgbClr val="D4622B"/>
            </a:solidFill>
            <a:prstDash val="solid"/>
          </a:ln>
          <a:effectLst>
            <a:outerShdw sx="100000" sy="100000" kx="0" ky="0" algn="bl" rotWithShape="0" blurRad="50800" dist="12700" dir="8100000">
              <a:srgbClr val="1C1917">
                <a:alpha val="6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013448" y="15087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62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2027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013448" y="1828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C19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External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C19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Expansion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013448" y="2377440"/>
            <a:ext cx="1371600" cy="0"/>
          </a:xfrm>
          <a:prstGeom prst="line">
            <a:avLst/>
          </a:prstGeom>
          <a:noFill/>
          <a:ln w="12700">
            <a:solidFill>
              <a:srgbClr val="E8E2D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013448" y="2468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E6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▸ First external customer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013448" y="28163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E6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▸ Benchmarking product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013448" y="31638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E6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▸ Server reputation network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013448" y="35112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E6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▸ Series A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321040" y="4709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5AD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E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4622B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914400"/>
            <a:ext cx="54864" cy="1828800"/>
          </a:xfrm>
          <a:prstGeom prst="rect">
            <a:avLst/>
          </a:prstGeom>
          <a:solidFill>
            <a:srgbClr val="D4622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82880"/>
            <a:ext cx="274320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5852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C19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Keva</a:t>
            </a:r>
            <a:pPr indent="0" marL="0">
              <a:buNone/>
            </a:pPr>
            <a:r>
              <a:rPr lang="en-US" sz="1400" spc="200" kern="0" dirty="0">
                <a:solidFill>
                  <a:srgbClr val="D462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005840" y="7772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462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Keva </a:t>
            </a:r>
            <a:pPr indent="0" marL="0">
              <a:buNone/>
            </a:pPr>
            <a:r>
              <a:rPr lang="en-US" sz="1400" i="1" dirty="0">
                <a:solidFill>
                  <a:srgbClr val="8B7E6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 —  permanence, fixity, establishment.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05840" y="1280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9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Every month KevaOS runs,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1005840" y="17373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9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venue loses muscle memory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1005840" y="21945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9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for doing things manually.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1005840" y="30175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B7E6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That's not lock-in through a contract.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005840" y="33832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62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That's lock-in through permanence.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005840" y="37490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0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fixed framework becomes the way the venue operates.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005840" y="41148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0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And permanence is the only moat that deepens with time.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5F1EB"/>
          </a:solidFill>
          <a:ln/>
        </p:spPr>
      </p:sp>
      <p:sp>
        <p:nvSpPr>
          <p:cNvPr id="15" name="Text 12"/>
          <p:cNvSpPr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C19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Keva</a:t>
            </a:r>
            <a:pPr indent="0" marL="0">
              <a:buNone/>
            </a:pPr>
            <a:r>
              <a:rPr lang="en-US" sz="800" dirty="0">
                <a:solidFill>
                  <a:srgbClr val="D462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OS</a:t>
            </a:r>
            <a:pPr indent="0" marL="0">
              <a:buNone/>
            </a:pPr>
            <a:r>
              <a:rPr lang="en-US" sz="800" dirty="0">
                <a:solidFill>
                  <a:srgbClr val="8B7E6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 |  THE BINYAN GROUP  |  CONFIDENTIAL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KevaOS — The AI-Enforced Control Plane for Hospitality</dc:title>
  <dc:subject>PptxGenJS Presentation</dc:subject>
  <dc:creator>The Binyan Group</dc:creator>
  <cp:lastModifiedBy>The Binyan Group</cp:lastModifiedBy>
  <cp:revision>1</cp:revision>
  <dcterms:created xsi:type="dcterms:W3CDTF">2026-03-14T23:52:07Z</dcterms:created>
  <dcterms:modified xsi:type="dcterms:W3CDTF">2026-03-14T23:52:07Z</dcterms:modified>
</cp:coreProperties>
</file>